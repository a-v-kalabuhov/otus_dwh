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Robot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533">
          <p15:clr>
            <a:srgbClr val="A4A3A4"/>
          </p15:clr>
        </p15:guide>
        <p15:guide id="2" pos="1002">
          <p15:clr>
            <a:srgbClr val="9AA0A6"/>
          </p15:clr>
        </p15:guide>
        <p15:guide id="3" orient="horz" pos="2215">
          <p15:clr>
            <a:srgbClr val="9AA0A6"/>
          </p15:clr>
        </p15:guide>
        <p15:guide id="4" orient="horz" pos="2385">
          <p15:clr>
            <a:srgbClr val="9AA0A6"/>
          </p15:clr>
        </p15:guide>
      </p15:sldGuideLst>
    </p:ext>
    <p:ext uri="GoogleSlidesCustomDataVersion2">
      <go:slidesCustomData xmlns:go="http://customooxmlschemas.google.com/" r:id="rId40" roundtripDataSignature="AMtx7mjO+4O2OfyYRD/fBHgiufMU0IIK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9E34801-A31F-48DC-8BD0-F9598B821D64}">
  <a:tblStyle styleId="{49E34801-A31F-48DC-8BD0-F9598B821D6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533"/>
        <p:guide pos="1002"/>
        <p:guide pos="2215" orient="horz"/>
        <p:guide pos="2385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Roboto-bold.fntdata"/><Relationship Id="rId14" Type="http://schemas.openxmlformats.org/officeDocument/2006/relationships/slide" Target="slides/slide8.xml"/><Relationship Id="rId36" Type="http://schemas.openxmlformats.org/officeDocument/2006/relationships/font" Target="fonts/Roboto-regular.fntdata"/><Relationship Id="rId17" Type="http://schemas.openxmlformats.org/officeDocument/2006/relationships/slide" Target="slides/slide11.xml"/><Relationship Id="rId39" Type="http://schemas.openxmlformats.org/officeDocument/2006/relationships/font" Target="fonts/Roboto-boldItalic.fntdata"/><Relationship Id="rId16" Type="http://schemas.openxmlformats.org/officeDocument/2006/relationships/slide" Target="slides/slide10.xml"/><Relationship Id="rId38" Type="http://schemas.openxmlformats.org/officeDocument/2006/relationships/font" Target="fonts/Roboto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15df007aa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715df007a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1"/>
          <p:cNvPicPr preferRelativeResize="0"/>
          <p:nvPr/>
        </p:nvPicPr>
        <p:blipFill rotWithShape="1">
          <a:blip r:embed="rId2">
            <a:alphaModFix/>
          </a:blip>
          <a:srcRect b="0" l="99" r="98" t="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31"/>
          <p:cNvSpPr txBox="1"/>
          <p:nvPr>
            <p:ph idx="1" type="subTitle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" name="Google Shape;12;p31"/>
          <p:cNvSpPr txBox="1"/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елый слайд + заголовок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2"/>
          <p:cNvSpPr txBox="1"/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 себе">
  <p:cSld name="CUSTOM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33"/>
          <p:cNvSpPr txBox="1"/>
          <p:nvPr>
            <p:ph idx="1" type="subTitle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" name="Google Shape;19;p33"/>
          <p:cNvSpPr txBox="1"/>
          <p:nvPr>
            <p:ph idx="2" type="subTitle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0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ма вебинара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" name="Google Shape;24;p35"/>
          <p:cNvSpPr txBox="1"/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35"/>
          <p:cNvSpPr txBox="1"/>
          <p:nvPr>
            <p:ph idx="1" type="subTitle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26" name="Google Shape;26;p35"/>
          <p:cNvSpPr txBox="1"/>
          <p:nvPr>
            <p:ph idx="2" type="subTitle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27" name="Google Shape;27;p35"/>
          <p:cNvSpPr txBox="1"/>
          <p:nvPr>
            <p:ph idx="3" type="subTitle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300"/>
              <a:buNone/>
              <a:defRPr b="0" sz="1300">
                <a:solidFill>
                  <a:srgbClr val="B7B7B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8" name="Google Shape;28;p35"/>
          <p:cNvSpPr txBox="1"/>
          <p:nvPr>
            <p:ph idx="4" type="subTitle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300"/>
              <a:buNone/>
              <a:defRPr b="0" sz="1300">
                <a:solidFill>
                  <a:srgbClr val="B7B7B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ный слайд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1" name="Google Shape;31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6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7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37"/>
          <p:cNvSpPr txBox="1"/>
          <p:nvPr>
            <p:ph idx="1" type="body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36" name="Google Shape;36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1">
  <p:cSld name="CUSTOM_5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8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+описание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9"/>
          <p:cNvSpPr txBox="1"/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39"/>
          <p:cNvSpPr txBox="1"/>
          <p:nvPr>
            <p:ph idx="1" type="subTitle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43" name="Google Shape;43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11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44" name="Google Shape;4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Roboto"/>
              <a:buNone/>
              <a:defRPr b="1" i="0" sz="3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30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●"/>
              <a:defRPr b="0" i="0" sz="1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○"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○"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■"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10" Type="http://schemas.openxmlformats.org/officeDocument/2006/relationships/image" Target="../media/image20.png"/><Relationship Id="rId9" Type="http://schemas.openxmlformats.org/officeDocument/2006/relationships/image" Target="../media/image33.png"/><Relationship Id="rId5" Type="http://schemas.openxmlformats.org/officeDocument/2006/relationships/image" Target="../media/image6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Relationship Id="rId4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jpg"/><Relationship Id="rId4" Type="http://schemas.openxmlformats.org/officeDocument/2006/relationships/image" Target="../media/image34.jpg"/><Relationship Id="rId5" Type="http://schemas.openxmlformats.org/officeDocument/2006/relationships/image" Target="../media/image2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Relationship Id="rId4" Type="http://schemas.openxmlformats.org/officeDocument/2006/relationships/image" Target="../media/image3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"/>
          <p:cNvSpPr txBox="1"/>
          <p:nvPr>
            <p:ph idx="1" type="subTitle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/>
              <a:t>otus.ru</a:t>
            </a:r>
            <a:endParaRPr/>
          </a:p>
        </p:txBody>
      </p:sp>
      <p:sp>
        <p:nvSpPr>
          <p:cNvPr id="50" name="Google Shape;50;p1"/>
          <p:cNvSpPr txBox="1"/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ru-RU"/>
              <a:t>DWH</a:t>
            </a:r>
            <a:br>
              <a:rPr lang="ru-RU"/>
            </a:br>
            <a:r>
              <a:rPr lang="ru-RU" sz="2000"/>
              <a:t>Модуль 4. Business Intelligence</a:t>
            </a:r>
            <a:endParaRPr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"/>
          <p:cNvSpPr txBox="1"/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2100"/>
              <a:t>Проверить, идет ли запись</a:t>
            </a:r>
            <a:endParaRPr sz="2100"/>
          </a:p>
        </p:txBody>
      </p:sp>
      <p:sp>
        <p:nvSpPr>
          <p:cNvPr id="56" name="Google Shape;56;p2"/>
          <p:cNvSpPr txBox="1"/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000"/>
              <a:t>Меня хорошо видно</a:t>
            </a:r>
            <a:endParaRPr sz="4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4000"/>
              <a:t>и слышно?</a:t>
            </a:r>
            <a:endParaRPr sz="4000"/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99" r="98" t="0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-RU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b="0" i="0" lang="ru-RU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ru-RU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b="0" i="0" sz="15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 txBox="1"/>
          <p:nvPr>
            <p:ph type="title"/>
          </p:nvPr>
        </p:nvSpPr>
        <p:spPr>
          <a:xfrm>
            <a:off x="500550" y="221318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2400"/>
              <a:t>Карта модуля </a:t>
            </a:r>
            <a:br>
              <a:rPr lang="ru-RU" sz="2400"/>
            </a:br>
            <a:r>
              <a:rPr lang="ru-RU" sz="2400"/>
              <a:t>«Business Intelligence»</a:t>
            </a:r>
            <a:endParaRPr sz="2400"/>
          </a:p>
        </p:txBody>
      </p:sp>
      <p:sp>
        <p:nvSpPr>
          <p:cNvPr id="65" name="Google Shape;65;p4"/>
          <p:cNvSpPr/>
          <p:nvPr/>
        </p:nvSpPr>
        <p:spPr>
          <a:xfrm>
            <a:off x="1542142" y="1672275"/>
            <a:ext cx="2473200" cy="664250"/>
          </a:xfrm>
          <a:prstGeom prst="roundRect">
            <a:avLst>
              <a:gd fmla="val 16667" name="adj"/>
            </a:avLst>
          </a:prstGeom>
          <a:solidFill>
            <a:srgbClr val="92D050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BI: Modeling &amp; Delivering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5105694" y="2733050"/>
            <a:ext cx="2473200" cy="5793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Analytics: Базовые аналитические витрины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969016" y="2957331"/>
            <a:ext cx="2970600" cy="5793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Analytics: Продвинутые аналитические витрины</a:t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4926275" y="1825106"/>
            <a:ext cx="2473200" cy="5793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Analytics: Сквозная аналитика</a:t>
            </a:r>
            <a:endParaRPr/>
          </a:p>
        </p:txBody>
      </p:sp>
      <p:cxnSp>
        <p:nvCxnSpPr>
          <p:cNvPr id="69" name="Google Shape;69;p4"/>
          <p:cNvCxnSpPr>
            <a:stCxn id="65" idx="3"/>
            <a:endCxn id="68" idx="1"/>
          </p:cNvCxnSpPr>
          <p:nvPr/>
        </p:nvCxnSpPr>
        <p:spPr>
          <a:xfrm>
            <a:off x="4015342" y="2004400"/>
            <a:ext cx="910800" cy="110400"/>
          </a:xfrm>
          <a:prstGeom prst="curvedConnector3">
            <a:avLst>
              <a:gd fmla="val 50007" name="adj1"/>
            </a:avLst>
          </a:prstGeom>
          <a:noFill/>
          <a:ln cap="flat" cmpd="sng" w="9525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0" name="Google Shape;70;p4"/>
          <p:cNvCxnSpPr>
            <a:endCxn id="65" idx="1"/>
          </p:cNvCxnSpPr>
          <p:nvPr/>
        </p:nvCxnSpPr>
        <p:spPr>
          <a:xfrm flipH="1">
            <a:off x="1542142" y="1180000"/>
            <a:ext cx="4298100" cy="824400"/>
          </a:xfrm>
          <a:prstGeom prst="curvedConnector3">
            <a:avLst>
              <a:gd fmla="val 105319" name="adj1"/>
            </a:avLst>
          </a:prstGeom>
          <a:noFill/>
          <a:ln cap="flat" cmpd="sng" w="9525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1" name="Google Shape;71;p4"/>
          <p:cNvCxnSpPr>
            <a:stCxn id="66" idx="3"/>
            <a:endCxn id="68" idx="3"/>
          </p:cNvCxnSpPr>
          <p:nvPr/>
        </p:nvCxnSpPr>
        <p:spPr>
          <a:xfrm rot="10800000">
            <a:off x="7399494" y="2114900"/>
            <a:ext cx="179400" cy="907800"/>
          </a:xfrm>
          <a:prstGeom prst="curvedConnector3">
            <a:avLst>
              <a:gd fmla="val -132734" name="adj1"/>
            </a:avLst>
          </a:prstGeom>
          <a:noFill/>
          <a:ln cap="flat" cmpd="sng" w="9525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2" name="Google Shape;72;p4"/>
          <p:cNvCxnSpPr>
            <a:stCxn id="66" idx="1"/>
            <a:endCxn id="67" idx="3"/>
          </p:cNvCxnSpPr>
          <p:nvPr/>
        </p:nvCxnSpPr>
        <p:spPr>
          <a:xfrm flipH="1">
            <a:off x="3939594" y="3022700"/>
            <a:ext cx="1166100" cy="224400"/>
          </a:xfrm>
          <a:prstGeom prst="curvedConnector3">
            <a:avLst>
              <a:gd fmla="val 49999" name="adj1"/>
            </a:avLst>
          </a:prstGeom>
          <a:noFill/>
          <a:ln cap="flat" cmpd="sng" w="9525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3" name="Google Shape;73;p4"/>
          <p:cNvCxnSpPr>
            <a:stCxn id="67" idx="1"/>
            <a:endCxn id="74" idx="1"/>
          </p:cNvCxnSpPr>
          <p:nvPr/>
        </p:nvCxnSpPr>
        <p:spPr>
          <a:xfrm>
            <a:off x="969016" y="3246981"/>
            <a:ext cx="1693200" cy="1019400"/>
          </a:xfrm>
          <a:prstGeom prst="curvedConnector3">
            <a:avLst>
              <a:gd fmla="val -13501" name="adj1"/>
            </a:avLst>
          </a:prstGeom>
          <a:noFill/>
          <a:ln cap="flat" cmpd="sng" w="9525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4" name="Google Shape;74;p4"/>
          <p:cNvSpPr/>
          <p:nvPr/>
        </p:nvSpPr>
        <p:spPr>
          <a:xfrm>
            <a:off x="2662216" y="3976638"/>
            <a:ext cx="2970600" cy="5793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Разбор ДЗ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/>
          <p:nvPr/>
        </p:nvSpPr>
        <p:spPr>
          <a:xfrm>
            <a:off x="630000" y="2716325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"/>
          <p:cNvSpPr txBox="1"/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ru-RU"/>
              <a:t>Analytics: </a:t>
            </a:r>
            <a:br>
              <a:rPr lang="ru-RU"/>
            </a:br>
            <a:r>
              <a:rPr lang="ru-RU"/>
              <a:t>Сквозная аналитика</a:t>
            </a:r>
            <a:endParaRPr/>
          </a:p>
        </p:txBody>
      </p:sp>
      <p:sp>
        <p:nvSpPr>
          <p:cNvPr id="81" name="Google Shape;81;p5"/>
          <p:cNvSpPr txBox="1"/>
          <p:nvPr>
            <p:ph idx="1" type="subTitle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ru-RU"/>
              <a:t>Тема вебинара</a:t>
            </a:r>
            <a:endParaRPr/>
          </a:p>
        </p:txBody>
      </p:sp>
      <p:sp>
        <p:nvSpPr>
          <p:cNvPr id="82" name="Google Shape;82;p5"/>
          <p:cNvSpPr txBox="1"/>
          <p:nvPr>
            <p:ph idx="2" type="subTitle"/>
          </p:nvPr>
        </p:nvSpPr>
        <p:spPr>
          <a:xfrm>
            <a:off x="2831675" y="3113171"/>
            <a:ext cx="5856300" cy="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ru-RU"/>
              <a:t>Гамаева Александра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ru-RU"/>
              <a:t>тгк: @nasha_sashenka</a:t>
            </a:r>
            <a:endParaRPr/>
          </a:p>
        </p:txBody>
      </p:sp>
      <p:pic>
        <p:nvPicPr>
          <p:cNvPr id="83" name="Google Shape;83;p5"/>
          <p:cNvPicPr preferRelativeResize="0"/>
          <p:nvPr/>
        </p:nvPicPr>
        <p:blipFill rotWithShape="1">
          <a:blip r:embed="rId3">
            <a:alphaModFix/>
          </a:blip>
          <a:srcRect b="13199" l="732" r="-732" t="3839"/>
          <a:stretch/>
        </p:blipFill>
        <p:spPr>
          <a:xfrm>
            <a:off x="900752" y="2942246"/>
            <a:ext cx="1526096" cy="1531758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84" name="Google Shape;84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6222" y="3586275"/>
            <a:ext cx="692376" cy="399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15df007aa_0_2"/>
          <p:cNvSpPr txBox="1"/>
          <p:nvPr>
            <p:ph type="title"/>
          </p:nvPr>
        </p:nvSpPr>
        <p:spPr>
          <a:xfrm>
            <a:off x="500550" y="330724"/>
            <a:ext cx="75198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Гамаева Александра</a:t>
            </a:r>
            <a:endParaRPr/>
          </a:p>
        </p:txBody>
      </p:sp>
      <p:sp>
        <p:nvSpPr>
          <p:cNvPr id="90" name="Google Shape;90;g3715df007aa_0_2"/>
          <p:cNvSpPr/>
          <p:nvPr/>
        </p:nvSpPr>
        <p:spPr>
          <a:xfrm>
            <a:off x="600300" y="1370150"/>
            <a:ext cx="1493400" cy="3082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715df007aa_0_2"/>
          <p:cNvSpPr txBox="1"/>
          <p:nvPr>
            <p:ph idx="2" type="subTitle"/>
          </p:nvPr>
        </p:nvSpPr>
        <p:spPr>
          <a:xfrm>
            <a:off x="3622183" y="1579138"/>
            <a:ext cx="5364900" cy="14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Symbols"/>
              <a:buChar char="▪"/>
            </a:pPr>
            <a:r>
              <a:rPr lang="ru-RU"/>
              <a:t>Эксперт по аналитике в хранилище данных Tinkoff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Noto Sans Symbols"/>
              <a:buChar char="▪"/>
            </a:pPr>
            <a:r>
              <a:rPr lang="ru-RU"/>
              <a:t>Более 6 лет опыта построения BI-отчетности и </a:t>
            </a:r>
            <a:br>
              <a:rPr lang="ru-RU"/>
            </a:br>
            <a:r>
              <a:rPr lang="ru-RU"/>
              <a:t>ad-hoc аналитики в сфере управления и финансов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Noto Sans Symbols"/>
              <a:buChar char="▪"/>
            </a:pPr>
            <a:r>
              <a:rPr lang="ru-RU"/>
              <a:t>Опыт проектного управления и руководства scrum-командой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pic>
        <p:nvPicPr>
          <p:cNvPr id="92" name="Google Shape;92;g3715df007aa_0_2"/>
          <p:cNvPicPr preferRelativeResize="0"/>
          <p:nvPr/>
        </p:nvPicPr>
        <p:blipFill rotWithShape="1">
          <a:blip r:embed="rId3">
            <a:alphaModFix/>
          </a:blip>
          <a:srcRect b="13198" l="730" r="-730" t="3841"/>
          <a:stretch/>
        </p:blipFill>
        <p:spPr>
          <a:xfrm>
            <a:off x="974171" y="1816105"/>
            <a:ext cx="2239200" cy="2247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3" name="Google Shape;93;g3715df007aa_0_2"/>
          <p:cNvSpPr/>
          <p:nvPr/>
        </p:nvSpPr>
        <p:spPr>
          <a:xfrm>
            <a:off x="6478780" y="3263268"/>
            <a:ext cx="814860" cy="265518"/>
          </a:xfrm>
          <a:prstGeom prst="flowChartTerminator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Tableau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715df007aa_0_2"/>
          <p:cNvSpPr/>
          <p:nvPr/>
        </p:nvSpPr>
        <p:spPr>
          <a:xfrm>
            <a:off x="5166484" y="3632105"/>
            <a:ext cx="814860" cy="265518"/>
          </a:xfrm>
          <a:prstGeom prst="flowChartTerminator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PowerBI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715df007aa_0_2"/>
          <p:cNvSpPr/>
          <p:nvPr/>
        </p:nvSpPr>
        <p:spPr>
          <a:xfrm>
            <a:off x="6205021" y="3628886"/>
            <a:ext cx="595026" cy="265518"/>
          </a:xfrm>
          <a:prstGeom prst="flowChartTerminator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900" u="none" cap="none" strike="noStrike">
                <a:solidFill>
                  <a:srgbClr val="BCBCBC"/>
                </a:solidFill>
                <a:latin typeface="Arial"/>
                <a:ea typeface="Arial"/>
                <a:cs typeface="Arial"/>
                <a:sym typeface="Arial"/>
              </a:rPr>
              <a:t>SSIS</a:t>
            </a:r>
            <a:endParaRPr b="0" i="0" sz="900" u="none" cap="none" strike="noStrike">
              <a:solidFill>
                <a:srgbClr val="BCBCB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715df007aa_0_2"/>
          <p:cNvSpPr/>
          <p:nvPr/>
        </p:nvSpPr>
        <p:spPr>
          <a:xfrm>
            <a:off x="7020493" y="3624583"/>
            <a:ext cx="595026" cy="265518"/>
          </a:xfrm>
          <a:prstGeom prst="flowChartTerminator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9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SSRS</a:t>
            </a:r>
            <a:endParaRPr b="0" i="0" sz="90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715df007aa_0_2"/>
          <p:cNvSpPr/>
          <p:nvPr/>
        </p:nvSpPr>
        <p:spPr>
          <a:xfrm>
            <a:off x="4414724" y="3978951"/>
            <a:ext cx="898830" cy="259362"/>
          </a:xfrm>
          <a:prstGeom prst="flowChartTerminator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9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endParaRPr b="0" i="0" sz="90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715df007aa_0_2"/>
          <p:cNvSpPr/>
          <p:nvPr/>
        </p:nvSpPr>
        <p:spPr>
          <a:xfrm>
            <a:off x="5558120" y="3976083"/>
            <a:ext cx="814860" cy="265518"/>
          </a:xfrm>
          <a:prstGeom prst="flowChartTerminator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715df007aa_0_2"/>
          <p:cNvSpPr/>
          <p:nvPr/>
        </p:nvSpPr>
        <p:spPr>
          <a:xfrm>
            <a:off x="6613059" y="3972750"/>
            <a:ext cx="814860" cy="265518"/>
          </a:xfrm>
          <a:prstGeom prst="flowChartTerminator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Zeppelin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715df007aa_0_2"/>
          <p:cNvSpPr/>
          <p:nvPr/>
        </p:nvSpPr>
        <p:spPr>
          <a:xfrm>
            <a:off x="4617076" y="3277673"/>
            <a:ext cx="814860" cy="265518"/>
          </a:xfrm>
          <a:prstGeom prst="flowChartTerminator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9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MS SQL</a:t>
            </a:r>
            <a:endParaRPr b="0" i="0" sz="90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715df007aa_0_2"/>
          <p:cNvSpPr/>
          <p:nvPr/>
        </p:nvSpPr>
        <p:spPr>
          <a:xfrm>
            <a:off x="5981772" y="4326047"/>
            <a:ext cx="920106" cy="265518"/>
          </a:xfrm>
          <a:prstGeom prst="flowChartTerminator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9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GreenPlum</a:t>
            </a:r>
            <a:endParaRPr b="0" i="0" sz="900" u="none" cap="none" strike="noStrike">
              <a:solidFill>
                <a:srgbClr val="77777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715df007aa_0_2"/>
          <p:cNvSpPr/>
          <p:nvPr/>
        </p:nvSpPr>
        <p:spPr>
          <a:xfrm>
            <a:off x="5643846" y="3263268"/>
            <a:ext cx="623052" cy="265518"/>
          </a:xfrm>
          <a:prstGeom prst="flowChartTerminator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DWH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715df007aa_0_2"/>
          <p:cNvSpPr/>
          <p:nvPr/>
        </p:nvSpPr>
        <p:spPr>
          <a:xfrm>
            <a:off x="4259412" y="3628886"/>
            <a:ext cx="623052" cy="265518"/>
          </a:xfrm>
          <a:prstGeom prst="flowChartTerminator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ETL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715df007aa_0_2"/>
          <p:cNvSpPr/>
          <p:nvPr/>
        </p:nvSpPr>
        <p:spPr>
          <a:xfrm>
            <a:off x="5127827" y="4344920"/>
            <a:ext cx="623052" cy="265518"/>
          </a:xfrm>
          <a:prstGeom prst="flowChartTerminator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900" u="none" cap="none" strike="noStrike">
                <a:solidFill>
                  <a:srgbClr val="BCBCBC"/>
                </a:solidFill>
                <a:latin typeface="Arial"/>
                <a:ea typeface="Arial"/>
                <a:cs typeface="Arial"/>
                <a:sym typeface="Arial"/>
              </a:rPr>
              <a:t>SAP</a:t>
            </a:r>
            <a:endParaRPr b="0" i="0" sz="900" u="none" cap="none" strike="noStrike">
              <a:solidFill>
                <a:srgbClr val="BCBCB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b="1" lang="ru-RU" sz="3200"/>
              <a:t>Правила вебинара</a:t>
            </a:r>
            <a:endParaRPr b="1" sz="3200"/>
          </a:p>
        </p:txBody>
      </p:sp>
      <p:pic>
        <p:nvPicPr>
          <p:cNvPr id="110" name="Google Shape;11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187" y="3339895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2187" y="1560124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2188" y="2450020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6"/>
          <p:cNvSpPr txBox="1"/>
          <p:nvPr/>
        </p:nvSpPr>
        <p:spPr>
          <a:xfrm>
            <a:off x="1649062" y="1530761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-RU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b="0" i="0" sz="1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-RU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b="0" i="0" sz="1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6"/>
          <p:cNvSpPr txBox="1"/>
          <p:nvPr/>
        </p:nvSpPr>
        <p:spPr>
          <a:xfrm>
            <a:off x="1649062" y="2400827"/>
            <a:ext cx="3231000" cy="87713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-RU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b="0" i="0" sz="1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-RU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 чат или голосом после поднятой руки</a:t>
            </a:r>
            <a:endParaRPr b="0" i="0" sz="1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6"/>
          <p:cNvSpPr txBox="1"/>
          <p:nvPr/>
        </p:nvSpPr>
        <p:spPr>
          <a:xfrm>
            <a:off x="1649062" y="3363673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-RU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b="0" i="0" sz="1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-RU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b="0" i="0" sz="1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8" name="Google Shape;11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6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ru-RU" sz="1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0" name="Google Shape;120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6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ru-RU" sz="1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ru-RU" sz="1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2" name="Google Shape;122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6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ru-RU" sz="1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4" name="Google Shape;124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6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ru-RU" sz="1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6" name="Google Shape;126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38592" y="3832408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6"/>
          <p:cNvSpPr txBox="1"/>
          <p:nvPr/>
        </p:nvSpPr>
        <p:spPr>
          <a:xfrm>
            <a:off x="6829362" y="3713347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ru-RU" sz="1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ru-RU" sz="1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Маршрут вебинара</a:t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1741014" y="1215184"/>
            <a:ext cx="5661971" cy="3762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Цели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1741614" y="1804686"/>
            <a:ext cx="5661971" cy="3762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Виды аналитики данных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1741614" y="2381701"/>
            <a:ext cx="5661971" cy="3762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 каких случаях нужна сквозная аналитика?</a:t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1741014" y="2958723"/>
            <a:ext cx="5661971" cy="3762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300" u="none" cap="none" strike="noStrike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Артефакты сквозной аналитики</a:t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1741014" y="3535759"/>
            <a:ext cx="5661971" cy="3762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300" u="none" cap="none" strike="noStrike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Какими инструментами создается сквозная аналитика?</a:t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1741014" y="4112772"/>
            <a:ext cx="5661971" cy="3762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ru-RU" sz="1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Рефлексия</a:t>
            </a:r>
            <a:endParaRPr b="0" i="0" sz="13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9" name="Google Shape;139;p7"/>
          <p:cNvCxnSpPr>
            <a:stCxn id="133" idx="1"/>
            <a:endCxn id="134" idx="1"/>
          </p:cNvCxnSpPr>
          <p:nvPr/>
        </p:nvCxnSpPr>
        <p:spPr>
          <a:xfrm>
            <a:off x="1741014" y="1403284"/>
            <a:ext cx="600" cy="589500"/>
          </a:xfrm>
          <a:prstGeom prst="curvedConnector3">
            <a:avLst>
              <a:gd fmla="val -38100000" name="adj1"/>
            </a:avLst>
          </a:prstGeom>
          <a:noFill/>
          <a:ln cap="flat" cmpd="sng" w="9525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0" name="Google Shape;140;p7"/>
          <p:cNvCxnSpPr>
            <a:stCxn id="134" idx="1"/>
            <a:endCxn id="135" idx="1"/>
          </p:cNvCxnSpPr>
          <p:nvPr/>
        </p:nvCxnSpPr>
        <p:spPr>
          <a:xfrm>
            <a:off x="1741614" y="1992786"/>
            <a:ext cx="600" cy="576900"/>
          </a:xfrm>
          <a:prstGeom prst="curvedConnector3">
            <a:avLst>
              <a:gd fmla="val -35983333" name="adj1"/>
            </a:avLst>
          </a:prstGeom>
          <a:noFill/>
          <a:ln cap="flat" cmpd="sng" w="9525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1" name="Google Shape;141;p7"/>
          <p:cNvCxnSpPr>
            <a:stCxn id="135" idx="1"/>
            <a:endCxn id="136" idx="1"/>
          </p:cNvCxnSpPr>
          <p:nvPr/>
        </p:nvCxnSpPr>
        <p:spPr>
          <a:xfrm flipH="1">
            <a:off x="1741014" y="2569801"/>
            <a:ext cx="600" cy="576900"/>
          </a:xfrm>
          <a:prstGeom prst="curvedConnector3">
            <a:avLst>
              <a:gd fmla="val 38200000" name="adj1"/>
            </a:avLst>
          </a:prstGeom>
          <a:noFill/>
          <a:ln cap="flat" cmpd="sng" w="9525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2" name="Google Shape;142;p7"/>
          <p:cNvCxnSpPr>
            <a:stCxn id="136" idx="1"/>
            <a:endCxn id="137" idx="1"/>
          </p:cNvCxnSpPr>
          <p:nvPr/>
        </p:nvCxnSpPr>
        <p:spPr>
          <a:xfrm>
            <a:off x="1741014" y="3146823"/>
            <a:ext cx="600" cy="576900"/>
          </a:xfrm>
          <a:prstGeom prst="curvedConnector3">
            <a:avLst>
              <a:gd fmla="val -35983333" name="adj1"/>
            </a:avLst>
          </a:prstGeom>
          <a:noFill/>
          <a:ln cap="flat" cmpd="sng" w="9525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3" name="Google Shape;143;p7"/>
          <p:cNvCxnSpPr>
            <a:stCxn id="137" idx="1"/>
            <a:endCxn id="138" idx="1"/>
          </p:cNvCxnSpPr>
          <p:nvPr/>
        </p:nvCxnSpPr>
        <p:spPr>
          <a:xfrm>
            <a:off x="1741014" y="3723859"/>
            <a:ext cx="600" cy="576900"/>
          </a:xfrm>
          <a:prstGeom prst="curvedConnector3">
            <a:avLst>
              <a:gd fmla="val -35983333" name="adj1"/>
            </a:avLst>
          </a:prstGeom>
          <a:noFill/>
          <a:ln cap="flat" cmpd="sng" w="9525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Цели вебинара</a:t>
            </a:r>
            <a:endParaRPr/>
          </a:p>
        </p:txBody>
      </p:sp>
      <p:graphicFrame>
        <p:nvGraphicFramePr>
          <p:cNvPr id="149" name="Google Shape;149;p8"/>
          <p:cNvGraphicFramePr/>
          <p:nvPr/>
        </p:nvGraphicFramePr>
        <p:xfrm>
          <a:off x="952500" y="15441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{49E34801-A31F-48DC-8BD0-F9598B821D64}</a:tableStyleId>
              </a:tblPr>
              <a:tblGrid>
                <a:gridCol w="489425"/>
                <a:gridCol w="6749575"/>
              </a:tblGrid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ru-RU" sz="1400" u="none" cap="none" strike="noStrik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400" u="none" cap="none" strike="noStrike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особенности каждого вида анализа данных 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ru-RU" sz="1400" u="none" cap="none" strike="noStrik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400" u="none" cap="none" strike="noStrike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Оценить необходимость внедрения сквозной аналитики в вашей компании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ru-RU" sz="1400" u="none" cap="none" strike="noStrik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400" u="none" cap="none" strike="noStrike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Выбрать инструмент для реализации сквозной аналитики</a:t>
                      </a:r>
                      <a:endParaRPr/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" name="Google Shape;150;p8"/>
          <p:cNvSpPr txBox="1"/>
          <p:nvPr>
            <p:ph idx="4294967295" type="subTitle"/>
          </p:nvPr>
        </p:nvSpPr>
        <p:spPr>
          <a:xfrm>
            <a:off x="500550" y="85736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None/>
            </a:pPr>
            <a:r>
              <a:rPr b="1" i="0" lang="ru-RU" sz="1500" u="none" cap="none" strike="noStrike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После занятия вы сможете</a:t>
            </a:r>
            <a:endParaRPr b="1" i="0" sz="1500" u="none" cap="none" strike="noStrike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ru-RU" sz="4900"/>
              <a:t>Такая разная аналитика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Виды аналитики данных</a:t>
            </a:r>
            <a:endParaRPr/>
          </a:p>
        </p:txBody>
      </p:sp>
      <p:pic>
        <p:nvPicPr>
          <p:cNvPr descr="https://www.siliconrepublic.com/wp-content/uploads/2014/12/201501/data-scientist-meme-main.jpg" id="161" name="Google Shape;16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3138" y="1569027"/>
            <a:ext cx="3302000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0"/>
          <p:cNvSpPr txBox="1"/>
          <p:nvPr/>
        </p:nvSpPr>
        <p:spPr>
          <a:xfrm>
            <a:off x="751688" y="1426624"/>
            <a:ext cx="3820312" cy="3345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71450" lvl="0" marL="3175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CC01"/>
              </a:buClr>
              <a:buSzPts val="1300"/>
              <a:buFont typeface="Noto Sans Symbols"/>
              <a:buChar char="✔"/>
            </a:pPr>
            <a:r>
              <a:rPr b="0" i="0" lang="ru-RU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BI и бизнес-аналитика</a:t>
            </a:r>
            <a:br>
              <a:rPr b="0" i="0" lang="ru-RU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1450" lvl="0" marL="3175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CC01"/>
              </a:buClr>
              <a:buSzPts val="1300"/>
              <a:buFont typeface="Noto Sans Symbols"/>
              <a:buChar char="✔"/>
            </a:pPr>
            <a:r>
              <a:rPr b="0" i="0" lang="ru-RU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Продуктовая аналитика</a:t>
            </a:r>
            <a:br>
              <a:rPr b="0" i="0" lang="ru-RU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1450" lvl="0" marL="3175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CC01"/>
              </a:buClr>
              <a:buSzPts val="1300"/>
              <a:buFont typeface="Noto Sans Symbols"/>
              <a:buChar char="✔"/>
            </a:pPr>
            <a:r>
              <a:rPr b="0" i="0" lang="ru-RU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Предиктивная аналитика</a:t>
            </a:r>
            <a:endParaRPr/>
          </a:p>
          <a:p>
            <a:pPr indent="-88900" lvl="0" marL="3175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CC01"/>
              </a:buClr>
              <a:buSzPts val="13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1450" lvl="0" marL="3175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CC01"/>
              </a:buClr>
              <a:buSzPts val="1300"/>
              <a:buFont typeface="Noto Sans Symbols"/>
              <a:buChar char="✔"/>
            </a:pPr>
            <a:r>
              <a:rPr b="0" i="0" lang="ru-RU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Сквозная аналитика</a:t>
            </a:r>
            <a:br>
              <a:rPr b="0" i="0" lang="ru-RU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2800"/>
              <a:t>BI и бизнес-аналитика</a:t>
            </a:r>
            <a:endParaRPr/>
          </a:p>
        </p:txBody>
      </p:sp>
      <p:sp>
        <p:nvSpPr>
          <p:cNvPr id="168" name="Google Shape;168;p11"/>
          <p:cNvSpPr txBox="1"/>
          <p:nvPr>
            <p:ph idx="1" type="body"/>
          </p:nvPr>
        </p:nvSpPr>
        <p:spPr>
          <a:xfrm>
            <a:off x="500550" y="1315278"/>
            <a:ext cx="4307424" cy="34221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</a:pPr>
            <a:r>
              <a:rPr lang="ru-RU" sz="1400"/>
              <a:t>BI – аналитика помогает сводить </a:t>
            </a:r>
            <a:r>
              <a:rPr lang="ru-RU" sz="1400">
                <a:solidFill>
                  <a:schemeClr val="dk1"/>
                </a:solidFill>
                <a:highlight>
                  <a:srgbClr val="FFCC00"/>
                </a:highlight>
              </a:rPr>
              <a:t>разрозненную информацию</a:t>
            </a:r>
            <a:r>
              <a:rPr lang="ru-RU" sz="1400">
                <a:solidFill>
                  <a:schemeClr val="dk1"/>
                </a:solidFill>
              </a:rPr>
              <a:t> </a:t>
            </a:r>
            <a:r>
              <a:rPr lang="ru-RU" sz="1400"/>
              <a:t>в единую систему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</a:pPr>
            <a:r>
              <a:rPr lang="ru-RU" sz="1400"/>
              <a:t>Бизнес-аналитика </a:t>
            </a:r>
            <a:r>
              <a:rPr lang="ru-RU" sz="1400">
                <a:solidFill>
                  <a:schemeClr val="dk1"/>
                </a:solidFill>
                <a:highlight>
                  <a:srgbClr val="FFCC00"/>
                </a:highlight>
              </a:rPr>
              <a:t>оценивает</a:t>
            </a:r>
            <a:r>
              <a:rPr lang="ru-RU" sz="1400"/>
              <a:t> текущую ситуацию и делает прогнозы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</a:pPr>
            <a:r>
              <a:rPr lang="ru-RU" sz="1400"/>
              <a:t>Основной инструмент – </a:t>
            </a:r>
            <a:r>
              <a:rPr lang="ru-RU" sz="1400">
                <a:solidFill>
                  <a:schemeClr val="dk1"/>
                </a:solidFill>
                <a:highlight>
                  <a:srgbClr val="FFCC00"/>
                </a:highlight>
              </a:rPr>
              <a:t>дашборд </a:t>
            </a:r>
            <a:r>
              <a:rPr lang="ru-RU" sz="1400">
                <a:solidFill>
                  <a:schemeClr val="lt1"/>
                </a:solidFill>
              </a:rPr>
              <a:t>(панель с ключевыми параметрами, изображенными в виде графиков и диаграмм), </a:t>
            </a:r>
            <a:r>
              <a:rPr lang="ru-RU" sz="1400"/>
              <a:t>благодаря которому вносят корректировки в текущие процессы и обдумывают </a:t>
            </a:r>
            <a:r>
              <a:rPr lang="ru-RU" sz="1400">
                <a:solidFill>
                  <a:schemeClr val="dk1"/>
                </a:solidFill>
                <a:highlight>
                  <a:srgbClr val="FFCC00"/>
                </a:highlight>
              </a:rPr>
              <a:t>стратегические решения</a:t>
            </a:r>
            <a:endParaRPr/>
          </a:p>
        </p:txBody>
      </p:sp>
      <p:pic>
        <p:nvPicPr>
          <p:cNvPr descr="визуализация данных аналитики" id="169" name="Google Shape;16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8083" y="1577837"/>
            <a:ext cx="3332957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2800"/>
              <a:t>Продуктовая аналитика</a:t>
            </a:r>
            <a:endParaRPr/>
          </a:p>
        </p:txBody>
      </p:sp>
      <p:sp>
        <p:nvSpPr>
          <p:cNvPr id="175" name="Google Shape;175;p12"/>
          <p:cNvSpPr txBox="1"/>
          <p:nvPr>
            <p:ph idx="1" type="body"/>
          </p:nvPr>
        </p:nvSpPr>
        <p:spPr>
          <a:xfrm>
            <a:off x="500550" y="1315278"/>
            <a:ext cx="4307424" cy="34221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</a:pPr>
            <a:r>
              <a:rPr lang="ru-RU" sz="1400"/>
              <a:t>Цель продуктовой аналитики — </a:t>
            </a:r>
            <a:r>
              <a:rPr lang="ru-RU" sz="1400">
                <a:solidFill>
                  <a:schemeClr val="dk1"/>
                </a:solidFill>
                <a:highlight>
                  <a:srgbClr val="FFCC00"/>
                </a:highlight>
              </a:rPr>
              <a:t>улучшение продукта</a:t>
            </a:r>
            <a:r>
              <a:rPr lang="ru-RU" sz="1400"/>
              <a:t>: с точки зрения пользовательского опыта, эффективности маркетинговых активностей и прибыльности для его владельца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</a:pPr>
            <a:r>
              <a:rPr lang="ru-RU" sz="1400">
                <a:solidFill>
                  <a:schemeClr val="lt1"/>
                </a:solidFill>
              </a:rPr>
              <a:t>Продуктовая аналитика приносит эффект лишь тогда, когда её используют </a:t>
            </a:r>
            <a:r>
              <a:rPr lang="ru-RU" sz="1400">
                <a:solidFill>
                  <a:schemeClr val="dk1"/>
                </a:solidFill>
                <a:highlight>
                  <a:srgbClr val="FFCC00"/>
                </a:highlight>
              </a:rPr>
              <a:t>в режиме реального времени</a:t>
            </a:r>
            <a:r>
              <a:rPr lang="ru-RU" sz="1400">
                <a:solidFill>
                  <a:schemeClr val="lt1"/>
                </a:solidFill>
              </a:rPr>
              <a:t>: оценивают имеющиеся данные, строят продуктовые гипотезы, проверяют их и оценивают эффект на продукт здесь и сейчас</a:t>
            </a:r>
            <a:endParaRPr sz="1400">
              <a:solidFill>
                <a:schemeClr val="lt1"/>
              </a:solidFill>
              <a:highlight>
                <a:srgbClr val="FFCC00"/>
              </a:highlight>
            </a:endParaRPr>
          </a:p>
        </p:txBody>
      </p:sp>
      <p:pic>
        <p:nvPicPr>
          <p:cNvPr descr="как выглядит дашборд" id="176" name="Google Shape;176;p12"/>
          <p:cNvPicPr preferRelativeResize="0"/>
          <p:nvPr/>
        </p:nvPicPr>
        <p:blipFill rotWithShape="1">
          <a:blip r:embed="rId3">
            <a:alphaModFix/>
          </a:blip>
          <a:srcRect b="7218" l="5392" r="6310" t="0"/>
          <a:stretch/>
        </p:blipFill>
        <p:spPr>
          <a:xfrm>
            <a:off x="5131903" y="1745974"/>
            <a:ext cx="3621576" cy="2160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2800"/>
              <a:t>Предиктивная аналитика</a:t>
            </a:r>
            <a:endParaRPr/>
          </a:p>
        </p:txBody>
      </p:sp>
      <p:sp>
        <p:nvSpPr>
          <p:cNvPr id="182" name="Google Shape;182;p13"/>
          <p:cNvSpPr txBox="1"/>
          <p:nvPr>
            <p:ph idx="1" type="body"/>
          </p:nvPr>
        </p:nvSpPr>
        <p:spPr>
          <a:xfrm>
            <a:off x="500550" y="1315278"/>
            <a:ext cx="4307424" cy="34221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</a:pPr>
            <a:r>
              <a:rPr lang="ru-RU" sz="1400"/>
              <a:t>Цель предиктивной аналитики – </a:t>
            </a:r>
            <a:r>
              <a:rPr lang="ru-RU" sz="1400">
                <a:solidFill>
                  <a:schemeClr val="dk1"/>
                </a:solidFill>
                <a:highlight>
                  <a:srgbClr val="FFCC00"/>
                </a:highlight>
              </a:rPr>
              <a:t>предсказывать будущее</a:t>
            </a:r>
            <a:r>
              <a:rPr lang="ru-RU" sz="1400"/>
              <a:t> на основе больших исторических массивов данных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</a:pPr>
            <a:r>
              <a:rPr lang="ru-RU" sz="1400">
                <a:solidFill>
                  <a:schemeClr val="lt1"/>
                </a:solidFill>
              </a:rPr>
              <a:t>Расчет предсказаний производится на основе статистических алгоритмов и </a:t>
            </a:r>
            <a:r>
              <a:rPr lang="ru-RU" sz="1400">
                <a:solidFill>
                  <a:schemeClr val="dk1"/>
                </a:solidFill>
                <a:highlight>
                  <a:srgbClr val="FFCC00"/>
                </a:highlight>
              </a:rPr>
              <a:t>методов машинного обучения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</a:pPr>
            <a:r>
              <a:rPr lang="ru-RU" sz="1400">
                <a:solidFill>
                  <a:schemeClr val="lt1"/>
                </a:solidFill>
              </a:rPr>
              <a:t>Предиктивная аналитика оперирует как внутренними, так и внешними данными. Процесс сбора данных называют </a:t>
            </a:r>
            <a:r>
              <a:rPr lang="ru-RU" sz="1400">
                <a:solidFill>
                  <a:schemeClr val="dk1"/>
                </a:solidFill>
                <a:highlight>
                  <a:srgbClr val="FFCC00"/>
                </a:highlight>
              </a:rPr>
              <a:t>Data Mining.</a:t>
            </a:r>
            <a:endParaRPr/>
          </a:p>
          <a:p>
            <a:pPr indent="-190500" lvl="0" marL="28575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400">
              <a:solidFill>
                <a:schemeClr val="lt1"/>
              </a:solidFill>
              <a:highlight>
                <a:srgbClr val="FFCC00"/>
              </a:highlight>
            </a:endParaRPr>
          </a:p>
        </p:txBody>
      </p:sp>
      <p:pic>
        <p:nvPicPr>
          <p:cNvPr descr="https://universe.byu.edu/wp-content/uploads/2018/02/data-mining.jpg" id="183" name="Google Shape;183;p13"/>
          <p:cNvPicPr preferRelativeResize="0"/>
          <p:nvPr/>
        </p:nvPicPr>
        <p:blipFill rotWithShape="1">
          <a:blip r:embed="rId3">
            <a:alphaModFix/>
          </a:blip>
          <a:srcRect b="0" l="0" r="0" t="18358"/>
          <a:stretch/>
        </p:blipFill>
        <p:spPr>
          <a:xfrm>
            <a:off x="5282677" y="1646582"/>
            <a:ext cx="3360773" cy="2012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2800"/>
              <a:t>Сквозная аналитика</a:t>
            </a:r>
            <a:endParaRPr/>
          </a:p>
        </p:txBody>
      </p:sp>
      <p:sp>
        <p:nvSpPr>
          <p:cNvPr id="189" name="Google Shape;189;p14"/>
          <p:cNvSpPr txBox="1"/>
          <p:nvPr>
            <p:ph idx="1" type="body"/>
          </p:nvPr>
        </p:nvSpPr>
        <p:spPr>
          <a:xfrm>
            <a:off x="500550" y="1315278"/>
            <a:ext cx="4307424" cy="34221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</a:pPr>
            <a:r>
              <a:rPr lang="ru-RU" sz="1400"/>
              <a:t>Цель сквозной аналитики – соединить вместе разрозненную информацию из </a:t>
            </a:r>
            <a:r>
              <a:rPr lang="ru-RU" sz="1400">
                <a:solidFill>
                  <a:schemeClr val="dk1"/>
                </a:solidFill>
                <a:highlight>
                  <a:srgbClr val="FFCC00"/>
                </a:highlight>
              </a:rPr>
              <a:t>разных систем</a:t>
            </a:r>
            <a:r>
              <a:rPr lang="ru-RU" sz="1400"/>
              <a:t> и отследить весь путь клиента от знакомства до последней сделки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</a:pPr>
            <a:r>
              <a:rPr lang="ru-RU" sz="1400">
                <a:solidFill>
                  <a:schemeClr val="lt1"/>
                </a:solidFill>
              </a:rPr>
              <a:t>Сквозная аналитика - </a:t>
            </a:r>
            <a:r>
              <a:rPr lang="ru-RU" sz="1400">
                <a:solidFill>
                  <a:schemeClr val="dk1"/>
                </a:solidFill>
                <a:highlight>
                  <a:srgbClr val="FFCC00"/>
                </a:highlight>
              </a:rPr>
              <a:t>первая ступень</a:t>
            </a:r>
            <a:r>
              <a:rPr lang="ru-RU" sz="1400">
                <a:solidFill>
                  <a:schemeClr val="lt1"/>
                </a:solidFill>
              </a:rPr>
              <a:t> к управляемости бизнес-процессов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</a:pPr>
            <a:r>
              <a:rPr lang="ru-RU" sz="1400">
                <a:solidFill>
                  <a:schemeClr val="lt1"/>
                </a:solidFill>
              </a:rPr>
              <a:t>Для работы необходим </a:t>
            </a:r>
            <a:r>
              <a:rPr lang="ru-RU" sz="1400">
                <a:solidFill>
                  <a:schemeClr val="dk1"/>
                </a:solidFill>
                <a:highlight>
                  <a:srgbClr val="FFCC00"/>
                </a:highlight>
              </a:rPr>
              <a:t>сводный дашборд</a:t>
            </a:r>
            <a:r>
              <a:rPr lang="ru-RU" sz="1400">
                <a:solidFill>
                  <a:schemeClr val="dk1"/>
                </a:solidFill>
              </a:rPr>
              <a:t> </a:t>
            </a:r>
            <a:r>
              <a:rPr lang="ru-RU" sz="1400">
                <a:solidFill>
                  <a:schemeClr val="lt1"/>
                </a:solidFill>
              </a:rPr>
              <a:t>с базовыми метриками, которые объединяют маркетинг, финансы и продажи в единую </a:t>
            </a:r>
            <a:r>
              <a:rPr lang="ru-RU" sz="1400">
                <a:solidFill>
                  <a:schemeClr val="dk1"/>
                </a:solidFill>
                <a:highlight>
                  <a:srgbClr val="FFCC00"/>
                </a:highlight>
              </a:rPr>
              <a:t>взаимозависимую систему</a:t>
            </a:r>
            <a:endParaRPr/>
          </a:p>
        </p:txBody>
      </p:sp>
      <p:pic>
        <p:nvPicPr>
          <p:cNvPr descr="Статистика продаж" id="190" name="Google Shape;1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3171" y="1714983"/>
            <a:ext cx="3801986" cy="1713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Как это все уживается</a:t>
            </a:r>
            <a:endParaRPr/>
          </a:p>
        </p:txBody>
      </p:sp>
      <p:pic>
        <p:nvPicPr>
          <p:cNvPr descr="https://s29805.cdn.ngenix.net/upload/_tilda/project30911_1612250130/tild6139-3832-4231-b138-316330363033__photo.png" id="196" name="Google Shape;196;p15"/>
          <p:cNvPicPr preferRelativeResize="0"/>
          <p:nvPr/>
        </p:nvPicPr>
        <p:blipFill rotWithShape="1">
          <a:blip r:embed="rId3">
            <a:alphaModFix/>
          </a:blip>
          <a:srcRect b="7577" l="0" r="0" t="6784"/>
          <a:stretch/>
        </p:blipFill>
        <p:spPr>
          <a:xfrm>
            <a:off x="1223222" y="1098003"/>
            <a:ext cx="6697556" cy="3584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Основные тезисы</a:t>
            </a:r>
            <a:endParaRPr/>
          </a:p>
        </p:txBody>
      </p:sp>
      <p:graphicFrame>
        <p:nvGraphicFramePr>
          <p:cNvPr id="202" name="Google Shape;202;p16"/>
          <p:cNvGraphicFramePr/>
          <p:nvPr/>
        </p:nvGraphicFramePr>
        <p:xfrm>
          <a:off x="952500" y="15441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{49E34801-A31F-48DC-8BD0-F9598B821D64}</a:tableStyleId>
              </a:tblPr>
              <a:tblGrid>
                <a:gridCol w="489425"/>
                <a:gridCol w="6749575"/>
              </a:tblGrid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ru-RU" sz="1400" u="none" cap="none" strike="noStrik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400" u="none" cap="none" strike="noStrike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>
                          <a:solidFill>
                            <a:schemeClr val="lt1"/>
                          </a:solidFill>
                        </a:rPr>
                        <a:t>Анализ данных можно разделить на несколько видов: бизнес и BI-аналитику, продуктовую аналитику, предиктивную аналитику и сквозную аналитику</a:t>
                      </a:r>
                      <a:endParaRPr/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ru-RU" sz="1400" u="none" cap="none" strike="noStrik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400" u="none" cap="none" strike="noStrike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>
                          <a:solidFill>
                            <a:schemeClr val="lt1"/>
                          </a:solidFill>
                        </a:rPr>
                        <a:t>Бизнес – анализ концентрируется на собранных, обработанных и подготовленных к анализу данных, продуктовая – на данных «здесь и сейчас», предиктивная – на смешении внутренних и внешних данных, а сквозная - на данных из разрозненных источников</a:t>
                      </a:r>
                      <a:endParaRPr/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ru-RU" sz="1400" u="none" cap="none" strike="noStrik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400" u="none" cap="none" strike="noStrike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Выбор метода анализа данных производится на основе потребностей и возможностей бизнеса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3" name="Google Shape;203;p16"/>
          <p:cNvSpPr txBox="1"/>
          <p:nvPr>
            <p:ph idx="4294967295" type="subTitle"/>
          </p:nvPr>
        </p:nvSpPr>
        <p:spPr>
          <a:xfrm>
            <a:off x="500550" y="85736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None/>
            </a:pPr>
            <a:r>
              <a:rPr b="1" i="0" lang="ru-RU" sz="1500" u="none" cap="none" strike="noStrike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Подведем итоги</a:t>
            </a:r>
            <a:endParaRPr b="1" i="0" sz="1500" u="none" cap="none" strike="noStrike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"/>
          <p:cNvSpPr txBox="1"/>
          <p:nvPr>
            <p:ph type="title"/>
          </p:nvPr>
        </p:nvSpPr>
        <p:spPr>
          <a:xfrm>
            <a:off x="651425" y="396403"/>
            <a:ext cx="7706100" cy="402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/>
              <a:t>Вопросы?</a:t>
            </a:r>
            <a:br>
              <a:rPr lang="ru-RU"/>
            </a:br>
            <a:endParaRPr/>
          </a:p>
        </p:txBody>
      </p:sp>
      <p:pic>
        <p:nvPicPr>
          <p:cNvPr id="209" name="Google Shape;20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673" y="3385103"/>
            <a:ext cx="620721" cy="620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8499" y="3385103"/>
            <a:ext cx="620721" cy="62072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7"/>
          <p:cNvSpPr txBox="1"/>
          <p:nvPr/>
        </p:nvSpPr>
        <p:spPr>
          <a:xfrm>
            <a:off x="1386400" y="3372213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-RU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b="0" i="0" sz="1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-RU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7"/>
          <p:cNvSpPr txBox="1"/>
          <p:nvPr/>
        </p:nvSpPr>
        <p:spPr>
          <a:xfrm>
            <a:off x="4439300" y="3372213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-RU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b="0" i="0" sz="1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-RU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b="0" i="0" sz="1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900"/>
              <a:t>Сквозная аналитика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Сквозная аналитика особенно нужна, если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500549" y="1101999"/>
            <a:ext cx="4381167" cy="27080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460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889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AutoNum type="arabicPeriod"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У вас нет </a:t>
            </a:r>
            <a:r>
              <a:rPr b="0" i="0" lang="ru-RU" sz="1400" u="none" cap="none" strike="noStrike">
                <a:solidFill>
                  <a:schemeClr val="dk1"/>
                </a:solidFill>
                <a:highlight>
                  <a:srgbClr val="FFCC00"/>
                </a:highlight>
                <a:latin typeface="Arial"/>
                <a:ea typeface="Arial"/>
                <a:cs typeface="Arial"/>
                <a:sym typeface="Arial"/>
              </a:rPr>
              <a:t>единой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системы данных</a:t>
            </a:r>
            <a:endParaRPr/>
          </a:p>
          <a:p>
            <a:pPr indent="-342900" lvl="0" marL="4889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AutoNum type="arabicPeriod"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Маркетинговые активности </a:t>
            </a:r>
            <a:r>
              <a:rPr b="0" i="0" lang="ru-RU" sz="1400" u="none" cap="none" strike="noStrike">
                <a:solidFill>
                  <a:schemeClr val="dk1"/>
                </a:solidFill>
                <a:highlight>
                  <a:srgbClr val="FFCC00"/>
                </a:highlight>
                <a:latin typeface="Arial"/>
                <a:ea typeface="Arial"/>
                <a:cs typeface="Arial"/>
                <a:sym typeface="Arial"/>
              </a:rPr>
              <a:t>разрозненны</a:t>
            </a:r>
            <a:endParaRPr/>
          </a:p>
          <a:p>
            <a:pPr indent="-342900" lvl="0" marL="4889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AutoNum type="arabicPeriod"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У вас </a:t>
            </a:r>
            <a:r>
              <a:rPr b="0" i="0" lang="ru-RU" sz="1400" u="none" cap="none" strike="noStrike">
                <a:solidFill>
                  <a:schemeClr val="dk1"/>
                </a:solidFill>
                <a:highlight>
                  <a:srgbClr val="FFCC00"/>
                </a:highlight>
                <a:latin typeface="Arial"/>
                <a:ea typeface="Arial"/>
                <a:cs typeface="Arial"/>
                <a:sym typeface="Arial"/>
              </a:rPr>
              <a:t>нет оценки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эффективности финансирования</a:t>
            </a:r>
            <a:endParaRPr/>
          </a:p>
          <a:p>
            <a:pPr indent="-342900" lvl="0" marL="4889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AutoNum type="arabicPeriod"/>
            </a:pPr>
            <a:r>
              <a:rPr b="0" i="0" lang="ru-RU" sz="1400" u="none" cap="none" strike="noStrike">
                <a:solidFill>
                  <a:schemeClr val="dk1"/>
                </a:solidFill>
                <a:highlight>
                  <a:srgbClr val="FFCC00"/>
                </a:highlight>
                <a:latin typeface="Roboto"/>
                <a:ea typeface="Roboto"/>
                <a:cs typeface="Roboto"/>
                <a:sym typeface="Roboto"/>
              </a:rPr>
              <a:t>В вашей отчётности чёрт ногу сломит</a:t>
            </a:r>
            <a:endParaRPr/>
          </a:p>
        </p:txBody>
      </p:sp>
      <p:pic>
        <p:nvPicPr>
          <p:cNvPr descr="https://stihi.ru/pics/2020/05/21/7078.jpg" id="224" name="Google Shape;22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7611" y="1583634"/>
            <a:ext cx="2718226" cy="2105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0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Источники сквозного анализа</a:t>
            </a:r>
            <a:endParaRPr/>
          </a:p>
        </p:txBody>
      </p:sp>
      <p:sp>
        <p:nvSpPr>
          <p:cNvPr id="230" name="Google Shape;230;p20"/>
          <p:cNvSpPr txBox="1"/>
          <p:nvPr>
            <p:ph idx="4294967295" type="body"/>
          </p:nvPr>
        </p:nvSpPr>
        <p:spPr>
          <a:xfrm>
            <a:off x="500550" y="1164732"/>
            <a:ext cx="3820312" cy="337829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460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u-RU" sz="1600">
                <a:solidFill>
                  <a:schemeClr val="dk1"/>
                </a:solidFill>
                <a:highlight>
                  <a:srgbClr val="FFCC00"/>
                </a:highlight>
              </a:rPr>
              <a:t>Источник:</a:t>
            </a:r>
            <a:endParaRPr/>
          </a:p>
          <a:p>
            <a:pPr indent="0" lvl="0" marL="14605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ru-RU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CRM-система</a:t>
            </a:r>
            <a:br>
              <a:rPr lang="ru-RU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4605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ru-RU" sz="1400">
                <a:solidFill>
                  <a:schemeClr val="lt1"/>
                </a:solidFill>
              </a:rPr>
              <a:t>Данные из рекламных кабинетов</a:t>
            </a:r>
            <a:br>
              <a:rPr lang="ru-RU" sz="1400">
                <a:solidFill>
                  <a:schemeClr val="lt1"/>
                </a:solidFill>
              </a:rPr>
            </a:br>
            <a:endParaRPr sz="1400">
              <a:solidFill>
                <a:schemeClr val="lt1"/>
              </a:solidFill>
            </a:endParaRPr>
          </a:p>
          <a:p>
            <a:pPr indent="0" lvl="0" marL="146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ru-RU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Телефония и кол-трекинг</a:t>
            </a:r>
            <a:endParaRPr/>
          </a:p>
          <a:p>
            <a:pPr indent="0" lvl="0" marL="146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ru-RU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Каналы онлайн-коммуникации</a:t>
            </a:r>
            <a:endParaRPr/>
          </a:p>
          <a:p>
            <a:pPr indent="0" lvl="0" marL="146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ru-RU" sz="1400">
                <a:solidFill>
                  <a:schemeClr val="lt1"/>
                </a:solidFill>
              </a:rPr>
              <a:t>Веб-аналитика</a:t>
            </a:r>
            <a:endParaRPr/>
          </a:p>
          <a:p>
            <a:pPr indent="0" lvl="0" marL="14605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431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/>
          </a:p>
        </p:txBody>
      </p:sp>
      <p:sp>
        <p:nvSpPr>
          <p:cNvPr id="231" name="Google Shape;231;p20"/>
          <p:cNvSpPr txBox="1"/>
          <p:nvPr/>
        </p:nvSpPr>
        <p:spPr>
          <a:xfrm>
            <a:off x="4572000" y="1164732"/>
            <a:ext cx="3820312" cy="3345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460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None/>
            </a:pPr>
            <a:r>
              <a:rPr b="1" i="0" lang="ru-RU" sz="1600" u="none" cap="none" strike="noStrike">
                <a:solidFill>
                  <a:schemeClr val="dk1"/>
                </a:solidFill>
                <a:highlight>
                  <a:srgbClr val="FFCC00"/>
                </a:highlight>
                <a:latin typeface="Roboto"/>
                <a:ea typeface="Roboto"/>
                <a:cs typeface="Roboto"/>
                <a:sym typeface="Roboto"/>
              </a:rPr>
              <a:t>Условия использования:</a:t>
            </a:r>
            <a:endParaRPr/>
          </a:p>
          <a:p>
            <a:pPr indent="0" lvl="0" marL="1460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None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должна быть внедрена</a:t>
            </a:r>
            <a:b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460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None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более одного канала и ежемесячный бюджет на рекламу составляет от 30 000 рублей</a:t>
            </a:r>
            <a:b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460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None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Заказ можно было сделать несколькими способами: на сайте, через звонок, заявку в соцсетях и мессенджере</a:t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Как создают сквозную аналитику?</a:t>
            </a:r>
            <a:endParaRPr/>
          </a:p>
        </p:txBody>
      </p:sp>
      <p:pic>
        <p:nvPicPr>
          <p:cNvPr descr="https://spark.ru/upload/other/63a4011d4e9d1.jpg" id="237" name="Google Shape;237;p21"/>
          <p:cNvPicPr preferRelativeResize="0"/>
          <p:nvPr/>
        </p:nvPicPr>
        <p:blipFill rotWithShape="1">
          <a:blip r:embed="rId3">
            <a:alphaModFix/>
          </a:blip>
          <a:srcRect b="13559" l="0" r="0" t="16296"/>
          <a:stretch/>
        </p:blipFill>
        <p:spPr>
          <a:xfrm>
            <a:off x="1191418" y="1135298"/>
            <a:ext cx="6761163" cy="3607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Основные артефакты</a:t>
            </a:r>
            <a:endParaRPr/>
          </a:p>
        </p:txBody>
      </p:sp>
      <p:pic>
        <p:nvPicPr>
          <p:cNvPr descr="https://optima-promo.ru/info/img/7/999.png" id="243" name="Google Shape;24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679" y="1148449"/>
            <a:ext cx="5078895" cy="359528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5555974" y="1148449"/>
            <a:ext cx="3080850" cy="35952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11137" lvl="0" marL="35718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1"/>
              <a:buFont typeface="Arial"/>
              <a:buAutoNum type="arabicPeriod"/>
            </a:pPr>
            <a:r>
              <a:rPr b="0" i="0" lang="ru-RU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ROMI (Return on Marketing Investments) — возврат инвестиций на маркетинг;</a:t>
            </a:r>
            <a:endParaRPr/>
          </a:p>
          <a:p>
            <a:pPr indent="-211137" lvl="0" marL="35718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1"/>
              <a:buFont typeface="Arial"/>
              <a:buAutoNum type="arabicPeriod"/>
            </a:pPr>
            <a:r>
              <a:rPr b="0" i="0" lang="ru-RU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ROAS (Return on Ad Spend) — возврат инвестиций на рекламу;</a:t>
            </a:r>
            <a:endParaRPr/>
          </a:p>
          <a:p>
            <a:pPr indent="-211137" lvl="0" marL="35718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1"/>
              <a:buFont typeface="Arial"/>
              <a:buAutoNum type="arabicPeriod"/>
            </a:pPr>
            <a:r>
              <a:rPr b="0" i="0" lang="ru-RU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ROI (Return on Investments) — возврат инвестиций;</a:t>
            </a:r>
            <a:endParaRPr/>
          </a:p>
          <a:p>
            <a:pPr indent="-211137" lvl="0" marL="35718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1"/>
              <a:buFont typeface="Arial"/>
              <a:buAutoNum type="arabicPeriod"/>
            </a:pPr>
            <a:r>
              <a:rPr b="0" i="0" lang="ru-RU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CPO (Cost per Order) — стоимость заказа;</a:t>
            </a:r>
            <a:endParaRPr/>
          </a:p>
          <a:p>
            <a:pPr indent="-211137" lvl="0" marL="35718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1"/>
              <a:buFont typeface="Arial"/>
              <a:buAutoNum type="arabicPeriod"/>
            </a:pPr>
            <a:r>
              <a:rPr b="0" i="0" lang="ru-RU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CPA (Cost per Action) — стоимость целевого действия;</a:t>
            </a:r>
            <a:endParaRPr/>
          </a:p>
          <a:p>
            <a:pPr indent="-211137" lvl="0" marL="35718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1"/>
              <a:buFont typeface="Arial"/>
              <a:buAutoNum type="arabicPeriod"/>
            </a:pPr>
            <a:r>
              <a:rPr b="0" i="0" lang="ru-RU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CTR (Click through Rate) — показатель кликабельности;</a:t>
            </a:r>
            <a:endParaRPr/>
          </a:p>
          <a:p>
            <a:pPr indent="-211137" lvl="0" marL="35718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1"/>
              <a:buFont typeface="Arial"/>
              <a:buAutoNum type="arabicPeriod"/>
            </a:pPr>
            <a:r>
              <a:rPr b="0" i="0" lang="ru-RU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LTV (Lifetime value) —жизненный цикл клиента.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Как выбрать систему сквозной аналитики?</a:t>
            </a:r>
            <a:endParaRPr/>
          </a:p>
        </p:txBody>
      </p:sp>
      <p:grpSp>
        <p:nvGrpSpPr>
          <p:cNvPr id="250" name="Google Shape;250;p23"/>
          <p:cNvGrpSpPr/>
          <p:nvPr/>
        </p:nvGrpSpPr>
        <p:grpSpPr>
          <a:xfrm>
            <a:off x="596106" y="1349172"/>
            <a:ext cx="3752503" cy="3339952"/>
            <a:chOff x="596106" y="763"/>
            <a:chExt cx="3752503" cy="3339952"/>
          </a:xfrm>
        </p:grpSpPr>
        <p:sp>
          <p:nvSpPr>
            <p:cNvPr id="251" name="Google Shape;251;p23"/>
            <p:cNvSpPr/>
            <p:nvPr/>
          </p:nvSpPr>
          <p:spPr>
            <a:xfrm rot="10800000">
              <a:off x="1060373" y="763"/>
              <a:ext cx="3288236" cy="928534"/>
            </a:xfrm>
            <a:prstGeom prst="homePlate">
              <a:avLst>
                <a:gd fmla="val 50000" name="adj"/>
              </a:avLst>
            </a:prstGeom>
            <a:solidFill>
              <a:srgbClr val="3978DB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3"/>
            <p:cNvSpPr txBox="1"/>
            <p:nvPr/>
          </p:nvSpPr>
          <p:spPr>
            <a:xfrm>
              <a:off x="1292506" y="763"/>
              <a:ext cx="3056103" cy="9285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9525" lIns="409450" spcFirstLastPara="1" rIns="92450" wrap="square" tIns="495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ru-RU" sz="1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Свести вручную</a:t>
              </a:r>
              <a:endParaRPr/>
            </a:p>
            <a:p>
              <a:pPr indent="-63500" lvl="1" marL="57150" marR="0" rtl="0" algn="l">
                <a:lnSpc>
                  <a:spcPct val="90000"/>
                </a:lnSpc>
                <a:spcBef>
                  <a:spcPts val="455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Char char="•"/>
              </a:pPr>
              <a:r>
                <a:rPr b="0" i="0" lang="ru-RU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В файлике Excel</a:t>
              </a:r>
              <a:endPara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63500" lvl="1" marL="57150" marR="0" rtl="0" algn="l">
                <a:lnSpc>
                  <a:spcPct val="9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Char char="•"/>
              </a:pPr>
              <a:r>
                <a:rPr b="0" i="0" lang="ru-RU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Использовать для построения прототипа</a:t>
              </a:r>
              <a:endParaRPr/>
            </a:p>
            <a:p>
              <a:pPr indent="-63500" lvl="1" marL="57150" marR="0" rtl="0" algn="l">
                <a:lnSpc>
                  <a:spcPct val="9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Char char="•"/>
              </a:pPr>
              <a:r>
                <a:rPr b="0" i="0" lang="ru-RU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Если данных не много</a:t>
              </a:r>
              <a:endParaRPr/>
            </a:p>
            <a:p>
              <a:pPr indent="0" lvl="1" marL="57150" marR="0" rtl="0" algn="l">
                <a:lnSpc>
                  <a:spcPct val="9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23"/>
            <p:cNvSpPr/>
            <p:nvPr/>
          </p:nvSpPr>
          <p:spPr>
            <a:xfrm>
              <a:off x="596106" y="763"/>
              <a:ext cx="928534" cy="928534"/>
            </a:xfrm>
            <a:prstGeom prst="ellipse">
              <a:avLst/>
            </a:prstGeom>
            <a:blipFill rotWithShape="1">
              <a:blip r:embed="rId3">
                <a:alphaModFix/>
              </a:blip>
              <a:stretch>
                <a:fillRect b="0" l="-44999" r="-44999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3"/>
            <p:cNvSpPr/>
            <p:nvPr/>
          </p:nvSpPr>
          <p:spPr>
            <a:xfrm rot="10800000">
              <a:off x="1060373" y="1206472"/>
              <a:ext cx="3288236" cy="928534"/>
            </a:xfrm>
            <a:prstGeom prst="homePlate">
              <a:avLst>
                <a:gd fmla="val 50000" name="adj"/>
              </a:avLst>
            </a:prstGeom>
            <a:solidFill>
              <a:srgbClr val="6892EB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3"/>
            <p:cNvSpPr txBox="1"/>
            <p:nvPr/>
          </p:nvSpPr>
          <p:spPr>
            <a:xfrm>
              <a:off x="1292506" y="1206472"/>
              <a:ext cx="3056103" cy="9285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9525" lIns="409450" spcFirstLastPara="1" rIns="92450" wrap="square" tIns="495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ru-RU" sz="1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Купить готовое решение</a:t>
              </a:r>
              <a:endParaRPr/>
            </a:p>
            <a:p>
              <a:pPr indent="-63500" lvl="1" marL="57150" marR="0" rtl="0" algn="l">
                <a:lnSpc>
                  <a:spcPct val="90000"/>
                </a:lnSpc>
                <a:spcBef>
                  <a:spcPts val="455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Char char="•"/>
              </a:pPr>
              <a:r>
                <a:rPr b="0" i="0" lang="ru-RU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В Roistat, Calltouch, Analytics и т.д.</a:t>
              </a:r>
              <a:endParaRPr/>
            </a:p>
            <a:p>
              <a:pPr indent="-63500" lvl="1" marL="57150" marR="0" rtl="0" algn="l">
                <a:lnSpc>
                  <a:spcPct val="9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Char char="•"/>
              </a:pPr>
              <a:r>
                <a:rPr b="0" i="0" lang="ru-RU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Включена дополнительная аналитика</a:t>
              </a:r>
              <a:endParaRPr/>
            </a:p>
            <a:p>
              <a:pPr indent="-63500" lvl="1" marL="57150" marR="0" rtl="0" algn="l">
                <a:lnSpc>
                  <a:spcPct val="9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Char char="•"/>
              </a:pPr>
              <a:r>
                <a:rPr b="0" i="0" lang="ru-RU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Если нужно решать только типовые задачи</a:t>
              </a:r>
              <a:endParaRPr/>
            </a:p>
          </p:txBody>
        </p:sp>
        <p:sp>
          <p:nvSpPr>
            <p:cNvPr id="256" name="Google Shape;256;p23"/>
            <p:cNvSpPr/>
            <p:nvPr/>
          </p:nvSpPr>
          <p:spPr>
            <a:xfrm>
              <a:off x="596106" y="1206472"/>
              <a:ext cx="928534" cy="928534"/>
            </a:xfrm>
            <a:prstGeom prst="ellipse">
              <a:avLst/>
            </a:prstGeom>
            <a:blipFill rotWithShape="1">
              <a:blip r:embed="rId4">
                <a:alphaModFix/>
              </a:blip>
              <a:stretch>
                <a:fillRect b="0" l="-38998" r="-38997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3"/>
            <p:cNvSpPr/>
            <p:nvPr/>
          </p:nvSpPr>
          <p:spPr>
            <a:xfrm rot="10800000">
              <a:off x="1048536" y="2412181"/>
              <a:ext cx="3288236" cy="928534"/>
            </a:xfrm>
            <a:prstGeom prst="homePlate">
              <a:avLst>
                <a:gd fmla="val 50000" name="adj"/>
              </a:avLst>
            </a:prstGeom>
            <a:solidFill>
              <a:srgbClr val="9AB4F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3"/>
            <p:cNvSpPr txBox="1"/>
            <p:nvPr/>
          </p:nvSpPr>
          <p:spPr>
            <a:xfrm>
              <a:off x="1280669" y="2412181"/>
              <a:ext cx="3056103" cy="9285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9525" lIns="409450" spcFirstLastPara="1" rIns="92450" wrap="square" tIns="495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ru-RU" sz="1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Сделать с нуля</a:t>
              </a:r>
              <a:endParaRPr/>
            </a:p>
            <a:p>
              <a:pPr indent="-63500" lvl="1" marL="57150" marR="0" rtl="0" algn="l">
                <a:lnSpc>
                  <a:spcPct val="90000"/>
                </a:lnSpc>
                <a:spcBef>
                  <a:spcPts val="455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Char char="•"/>
              </a:pPr>
              <a:r>
                <a:rPr b="0" i="0" lang="ru-RU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В Power BI с Яндекс.Метрикой или Google.Analytics</a:t>
              </a:r>
              <a:endPara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63500" lvl="1" marL="57150" marR="0" rtl="0" algn="l">
                <a:lnSpc>
                  <a:spcPct val="9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Char char="•"/>
              </a:pPr>
              <a:r>
                <a:rPr b="0" i="0" lang="ru-RU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Нужен специалист по BI</a:t>
              </a:r>
              <a:endPara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63500" lvl="1" marL="57150" marR="0" rtl="0" algn="l">
                <a:lnSpc>
                  <a:spcPct val="9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Char char="•"/>
              </a:pPr>
              <a:r>
                <a:rPr b="0" i="0" lang="ru-RU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Для нестандартных задач</a:t>
              </a:r>
              <a:endParaRPr/>
            </a:p>
          </p:txBody>
        </p:sp>
        <p:sp>
          <p:nvSpPr>
            <p:cNvPr id="259" name="Google Shape;259;p23"/>
            <p:cNvSpPr/>
            <p:nvPr/>
          </p:nvSpPr>
          <p:spPr>
            <a:xfrm>
              <a:off x="596106" y="2412181"/>
              <a:ext cx="928534" cy="928534"/>
            </a:xfrm>
            <a:prstGeom prst="ellipse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0" name="Google Shape;260;p23"/>
          <p:cNvSpPr txBox="1"/>
          <p:nvPr/>
        </p:nvSpPr>
        <p:spPr>
          <a:xfrm>
            <a:off x="4486140" y="2176669"/>
            <a:ext cx="3935615" cy="149749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889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oto Sans Symbols"/>
              <a:buChar char="⮚"/>
            </a:pPr>
            <a:r>
              <a:rPr b="0" i="0" lang="ru-RU" sz="1400" u="none" cap="none" strike="noStrike">
                <a:solidFill>
                  <a:schemeClr val="dk1"/>
                </a:solidFill>
                <a:highlight>
                  <a:srgbClr val="FFCC00"/>
                </a:highlight>
                <a:latin typeface="Arial"/>
                <a:ea typeface="Arial"/>
                <a:cs typeface="Arial"/>
                <a:sym typeface="Arial"/>
              </a:rPr>
              <a:t>Определитесь с целями и метриками</a:t>
            </a:r>
            <a:endParaRPr/>
          </a:p>
          <a:p>
            <a:pPr indent="-342900" lvl="0" marL="4889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oto Sans Symbols"/>
              <a:buChar char="⮚"/>
            </a:pPr>
            <a:r>
              <a:rPr b="0" i="0" lang="ru-RU" sz="1400" u="none" cap="none" strike="noStrike">
                <a:solidFill>
                  <a:schemeClr val="dk1"/>
                </a:solidFill>
                <a:highlight>
                  <a:srgbClr val="FFCC00"/>
                </a:highlight>
                <a:latin typeface="Arial"/>
                <a:ea typeface="Arial"/>
                <a:cs typeface="Arial"/>
                <a:sym typeface="Arial"/>
              </a:rPr>
              <a:t>Определитесь с интеграциями</a:t>
            </a:r>
            <a:endParaRPr/>
          </a:p>
          <a:p>
            <a:pPr indent="-342900" lvl="0" marL="4889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oto Sans Symbols"/>
              <a:buChar char="⮚"/>
            </a:pPr>
            <a:r>
              <a:rPr b="0" i="0" lang="ru-RU" sz="1400" u="none" cap="none" strike="noStrike">
                <a:solidFill>
                  <a:schemeClr val="dk1"/>
                </a:solidFill>
                <a:highlight>
                  <a:srgbClr val="FFCC00"/>
                </a:highlight>
                <a:latin typeface="Arial"/>
                <a:ea typeface="Arial"/>
                <a:cs typeface="Arial"/>
                <a:sym typeface="Arial"/>
              </a:rPr>
              <a:t>Определитесь с бюджетом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Основные тезисы</a:t>
            </a:r>
            <a:endParaRPr/>
          </a:p>
        </p:txBody>
      </p:sp>
      <p:graphicFrame>
        <p:nvGraphicFramePr>
          <p:cNvPr id="266" name="Google Shape;266;p24"/>
          <p:cNvGraphicFramePr/>
          <p:nvPr/>
        </p:nvGraphicFramePr>
        <p:xfrm>
          <a:off x="952500" y="15441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{49E34801-A31F-48DC-8BD0-F9598B821D64}</a:tableStyleId>
              </a:tblPr>
              <a:tblGrid>
                <a:gridCol w="489425"/>
                <a:gridCol w="6749575"/>
              </a:tblGrid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ru-RU" sz="1400" u="none" cap="none" strike="noStrik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400" u="none" cap="none" strike="noStrike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>
                          <a:solidFill>
                            <a:schemeClr val="lt1"/>
                          </a:solidFill>
                        </a:rPr>
                        <a:t>Сквозная аналитика — полезный инструмент, который помогает находить быстрые и эффективные точки роста, принимать сложные решения на первых этапах существования бизнеса</a:t>
                      </a:r>
                      <a:endParaRPr/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ru-RU" sz="1400" u="none" cap="none" strike="noStrik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400" u="none" cap="none" strike="noStrike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>
                          <a:solidFill>
                            <a:schemeClr val="lt1"/>
                          </a:solidFill>
                        </a:rPr>
                        <a:t>Чем раньше компания внедряет сквозную аналитику — тем лучше, но важно учитывать специфику ниши и размеры бизнеса</a:t>
                      </a:r>
                      <a:endParaRPr/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ru-RU" sz="1400" u="none" cap="none" strike="noStrik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400" u="none" cap="none" strike="noStrike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Чтобы выбрать сервис, подходящий именно вам, определите свои цели и показатели, какие интеграции необходимы и сколько готовы заплатить. Не бойтесь пробовать новые сервисы — это ничего не стоит, а по итогу вы выберете именно тот продукт, который решит ваши задачи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7" name="Google Shape;267;p24"/>
          <p:cNvSpPr txBox="1"/>
          <p:nvPr>
            <p:ph idx="4294967295" type="subTitle"/>
          </p:nvPr>
        </p:nvSpPr>
        <p:spPr>
          <a:xfrm>
            <a:off x="500550" y="85736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None/>
            </a:pPr>
            <a:r>
              <a:rPr b="1" i="0" lang="ru-RU" sz="1500" u="none" cap="none" strike="noStrike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Подведем итоги</a:t>
            </a:r>
            <a:endParaRPr b="1" i="0" sz="1500" u="none" cap="none" strike="noStrike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5"/>
          <p:cNvSpPr txBox="1"/>
          <p:nvPr>
            <p:ph type="title"/>
          </p:nvPr>
        </p:nvSpPr>
        <p:spPr>
          <a:xfrm>
            <a:off x="651425" y="396403"/>
            <a:ext cx="7706100" cy="402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/>
              <a:t>Вопросы?</a:t>
            </a:r>
            <a:br>
              <a:rPr lang="ru-RU"/>
            </a:br>
            <a:endParaRPr/>
          </a:p>
        </p:txBody>
      </p:sp>
      <p:pic>
        <p:nvPicPr>
          <p:cNvPr id="273" name="Google Shape;27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673" y="3385103"/>
            <a:ext cx="620721" cy="620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8499" y="3385103"/>
            <a:ext cx="620721" cy="62072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5"/>
          <p:cNvSpPr txBox="1"/>
          <p:nvPr/>
        </p:nvSpPr>
        <p:spPr>
          <a:xfrm>
            <a:off x="1386400" y="3372213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-RU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b="0" i="0" sz="1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-RU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5"/>
          <p:cNvSpPr txBox="1"/>
          <p:nvPr/>
        </p:nvSpPr>
        <p:spPr>
          <a:xfrm>
            <a:off x="4439300" y="3372213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-RU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b="0" i="0" sz="1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-RU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b="0" i="0" sz="1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6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/>
              <a:t>Рефлексия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7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Цели вебинара</a:t>
            </a:r>
            <a:endParaRPr/>
          </a:p>
        </p:txBody>
      </p:sp>
      <p:graphicFrame>
        <p:nvGraphicFramePr>
          <p:cNvPr id="287" name="Google Shape;287;p27"/>
          <p:cNvGraphicFramePr/>
          <p:nvPr/>
        </p:nvGraphicFramePr>
        <p:xfrm>
          <a:off x="952500" y="15441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{49E34801-A31F-48DC-8BD0-F9598B821D64}</a:tableStyleId>
              </a:tblPr>
              <a:tblGrid>
                <a:gridCol w="489425"/>
                <a:gridCol w="6749575"/>
              </a:tblGrid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ru-RU" sz="1400" u="none" cap="none" strike="noStrik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400" u="none" cap="none" strike="noStrike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особенности каждого вида анализа данных 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ru-RU" sz="1400" u="none" cap="none" strike="noStrik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400" u="none" cap="none" strike="noStrike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Оценить необходимость внедрения сквозной аналитики в вашей компании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ru-RU" sz="1400" u="none" cap="none" strike="noStrike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400" u="none" cap="none" strike="noStrike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Выбрать инструмент для реализации сквозной аналитики</a:t>
                      </a:r>
                      <a:endParaRPr/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8" name="Google Shape;288;p27"/>
          <p:cNvSpPr txBox="1"/>
          <p:nvPr>
            <p:ph idx="4294967295" type="subTitle"/>
          </p:nvPr>
        </p:nvSpPr>
        <p:spPr>
          <a:xfrm>
            <a:off x="500550" y="85736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None/>
            </a:pPr>
            <a:r>
              <a:rPr b="1" i="0" lang="ru-RU" sz="1500" u="none" cap="none" strike="noStrike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После занятия вы сможете</a:t>
            </a:r>
            <a:endParaRPr b="1" i="0" sz="1500" u="none" cap="none" strike="noStrike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8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Рефлексия</a:t>
            </a:r>
            <a:endParaRPr/>
          </a:p>
        </p:txBody>
      </p:sp>
      <p:pic>
        <p:nvPicPr>
          <p:cNvPr id="294" name="Google Shape;29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0864" y="1986125"/>
            <a:ext cx="828522" cy="828504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8"/>
          <p:cNvSpPr txBox="1"/>
          <p:nvPr/>
        </p:nvSpPr>
        <p:spPr>
          <a:xfrm>
            <a:off x="2407990" y="2153775"/>
            <a:ext cx="4672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-RU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Что интересного и важного узнали на вебинаре?</a:t>
            </a:r>
            <a:endParaRPr b="0" i="0" sz="1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28"/>
          <p:cNvSpPr txBox="1"/>
          <p:nvPr/>
        </p:nvSpPr>
        <p:spPr>
          <a:xfrm>
            <a:off x="2407990" y="3363089"/>
            <a:ext cx="499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-RU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Как будете применять на практике то,</a:t>
            </a:r>
            <a:endParaRPr b="0" i="0" sz="1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-RU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что узнали на вебинаре?</a:t>
            </a:r>
            <a:endParaRPr b="0" i="0" sz="15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7" name="Google Shape;29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9700" y="3296427"/>
            <a:ext cx="845250" cy="845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9"/>
          <p:cNvSpPr txBox="1"/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/>
              <a:t>Заполните, пожалуйста,</a:t>
            </a:r>
            <a:endParaRPr sz="3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/>
              <a:t>опрос о занятии</a:t>
            </a:r>
            <a:endParaRPr sz="3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Aleksandra Merzlaya</dc:creator>
</cp:coreProperties>
</file>