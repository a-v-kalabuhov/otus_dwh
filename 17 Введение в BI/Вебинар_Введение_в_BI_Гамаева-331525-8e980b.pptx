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Helvetica Neue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2215">
          <p15:clr>
            <a:srgbClr val="9AA0A6"/>
          </p15:clr>
        </p15:guide>
        <p15:guide id="4" orient="horz" pos="2385">
          <p15:clr>
            <a:srgbClr val="9AA0A6"/>
          </p15:clr>
        </p15:guide>
      </p15:sldGuideLst>
    </p:ext>
    <p:ext uri="GoogleSlidesCustomDataVersion2">
      <go:slidesCustomData xmlns:go="http://customooxmlschemas.google.com/" r:id="rId51" roundtripDataSignature="AMtx7mgQ3N59K1HaAYECsq/M5OaiH0zW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5D1301-CB26-468C-9BD2-743732C3E11C}">
  <a:tblStyle styleId="{785D1301-CB26-468C-9BD2-743732C3E1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91E7DD3-CFD0-491F-9652-1399C71A4DF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58F2956-9FDC-4B36-8135-C454E828B65E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1002"/>
        <p:guide pos="2215" orient="horz"/>
        <p:guide pos="23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d984d842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8d984d84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d984d842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8d984d8426_0_9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d984d842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8d984d8426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d984d842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8d984d8426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1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2" name="Google Shape;22;p41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3" name="Google Shape;23;p41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None/>
              <a:defRPr b="0" sz="13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None/>
              <a:defRPr b="0" sz="13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b="1" i="0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b="0" i="0"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b="1" i="0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7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47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0" name="Google Shape;50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Relationship Id="rId4" Type="http://schemas.openxmlformats.org/officeDocument/2006/relationships/image" Target="../media/image23.jpg"/><Relationship Id="rId5" Type="http://schemas.openxmlformats.org/officeDocument/2006/relationships/image" Target="../media/image18.jpg"/><Relationship Id="rId6" Type="http://schemas.openxmlformats.org/officeDocument/2006/relationships/image" Target="../media/image34.png"/><Relationship Id="rId7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t.me/tableau_chat" TargetMode="External"/><Relationship Id="rId4" Type="http://schemas.openxmlformats.org/officeDocument/2006/relationships/image" Target="../media/image24.png"/><Relationship Id="rId11" Type="http://schemas.openxmlformats.org/officeDocument/2006/relationships/image" Target="../media/image18.jpg"/><Relationship Id="rId10" Type="http://schemas.openxmlformats.org/officeDocument/2006/relationships/image" Target="../media/image35.jpg"/><Relationship Id="rId12" Type="http://schemas.openxmlformats.org/officeDocument/2006/relationships/image" Target="../media/image30.png"/><Relationship Id="rId9" Type="http://schemas.openxmlformats.org/officeDocument/2006/relationships/image" Target="../media/image50.png"/><Relationship Id="rId5" Type="http://schemas.openxmlformats.org/officeDocument/2006/relationships/image" Target="../media/image42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jpg"/><Relationship Id="rId4" Type="http://schemas.openxmlformats.org/officeDocument/2006/relationships/image" Target="../media/image53.png"/><Relationship Id="rId5" Type="http://schemas.openxmlformats.org/officeDocument/2006/relationships/image" Target="../media/image45.jpg"/><Relationship Id="rId6" Type="http://schemas.openxmlformats.org/officeDocument/2006/relationships/image" Target="../media/image56.jpg"/><Relationship Id="rId7" Type="http://schemas.openxmlformats.org/officeDocument/2006/relationships/image" Target="../media/image38.jpg"/><Relationship Id="rId8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jpg"/><Relationship Id="rId4" Type="http://schemas.openxmlformats.org/officeDocument/2006/relationships/hyperlink" Target="https://public.tableau.com/app/profile/frankie.benson/viz/HRDashboard-RWFD_16791683724400/HRExecutiveSummary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jpg"/><Relationship Id="rId4" Type="http://schemas.openxmlformats.org/officeDocument/2006/relationships/image" Target="../media/image52.jpg"/><Relationship Id="rId5" Type="http://schemas.openxmlformats.org/officeDocument/2006/relationships/image" Target="../media/image36.jpg"/><Relationship Id="rId6" Type="http://schemas.openxmlformats.org/officeDocument/2006/relationships/hyperlink" Target="https://public.tableau.com/app/profile/soha.elghany/viz/worlddata_16751035927180/DASHBOAR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100"/>
              <a:t>Проверить, идет ли запись</a:t>
            </a:r>
            <a:endParaRPr sz="2100"/>
          </a:p>
        </p:txBody>
      </p:sp>
      <p:sp>
        <p:nvSpPr>
          <p:cNvPr id="57" name="Google Shape;57;p1"/>
          <p:cNvSpPr txBox="1"/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Меня хорошо видно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/>
              <a:t>и слышно?</a:t>
            </a:r>
            <a:endParaRPr sz="4000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99" r="98" t="0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d984d8426_0_0"/>
          <p:cNvSpPr txBox="1"/>
          <p:nvPr>
            <p:ph type="title"/>
          </p:nvPr>
        </p:nvSpPr>
        <p:spPr>
          <a:xfrm>
            <a:off x="500550" y="330724"/>
            <a:ext cx="75198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Гамаева Александра</a:t>
            </a:r>
            <a:endParaRPr/>
          </a:p>
        </p:txBody>
      </p:sp>
      <p:sp>
        <p:nvSpPr>
          <p:cNvPr id="66" name="Google Shape;66;g38d984d8426_0_0"/>
          <p:cNvSpPr/>
          <p:nvPr/>
        </p:nvSpPr>
        <p:spPr>
          <a:xfrm>
            <a:off x="600300" y="1370150"/>
            <a:ext cx="1493400" cy="308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d984d8426_0_0"/>
          <p:cNvSpPr txBox="1"/>
          <p:nvPr>
            <p:ph idx="2" type="subTitle"/>
          </p:nvPr>
        </p:nvSpPr>
        <p:spPr>
          <a:xfrm>
            <a:off x="3622175" y="1579160"/>
            <a:ext cx="5364900" cy="26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en-US"/>
              <a:t>Руководитель направления аналитики в хранилище данных Т-банка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en-US"/>
              <a:t>Более 5 лет опыта аналитиком и дата-инженером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en-US"/>
              <a:t>Преподаватель курсов “Data Warehouse Analyst”, “BI-аналитик”, “Аналитик данных” и “Аналитика для руководителей” в ОТУС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68" name="Google Shape;68;g38d984d8426_0_0"/>
          <p:cNvPicPr preferRelativeResize="0"/>
          <p:nvPr/>
        </p:nvPicPr>
        <p:blipFill rotWithShape="1">
          <a:blip r:embed="rId3">
            <a:alphaModFix/>
          </a:blip>
          <a:srcRect b="13821" l="0" r="9909" t="4685"/>
          <a:stretch/>
        </p:blipFill>
        <p:spPr>
          <a:xfrm>
            <a:off x="1129250" y="1173825"/>
            <a:ext cx="2054700" cy="279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9" name="Google Shape;69;g38d984d842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725" y="3180950"/>
            <a:ext cx="1113900" cy="127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500550" y="221318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2400"/>
              <a:t>Карта модуля </a:t>
            </a:r>
            <a:br>
              <a:rPr lang="en-US" sz="2400"/>
            </a:br>
            <a:r>
              <a:rPr lang="en-US" sz="2400"/>
              <a:t>«Business Intelligence»</a:t>
            </a:r>
            <a:endParaRPr sz="2400"/>
          </a:p>
        </p:txBody>
      </p:sp>
      <p:sp>
        <p:nvSpPr>
          <p:cNvPr id="75" name="Google Shape;75;p3"/>
          <p:cNvSpPr/>
          <p:nvPr/>
        </p:nvSpPr>
        <p:spPr>
          <a:xfrm>
            <a:off x="1495740" y="1881301"/>
            <a:ext cx="24732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 в BI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81425" y="2046875"/>
            <a:ext cx="29385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Подготовка инфраструктуры для предоставления BI отчетности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66609" y="3370082"/>
            <a:ext cx="29706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Обзор популярных BI инструментов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209679" y="3246981"/>
            <a:ext cx="24732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Создание метрик и дашбордов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3"/>
          <p:cNvCxnSpPr>
            <a:stCxn id="75" idx="3"/>
            <a:endCxn id="76" idx="1"/>
          </p:cNvCxnSpPr>
          <p:nvPr/>
        </p:nvCxnSpPr>
        <p:spPr>
          <a:xfrm>
            <a:off x="3968940" y="2170951"/>
            <a:ext cx="912600" cy="1656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0" name="Google Shape;80;p3"/>
          <p:cNvCxnSpPr>
            <a:endCxn id="75" idx="1"/>
          </p:cNvCxnSpPr>
          <p:nvPr/>
        </p:nvCxnSpPr>
        <p:spPr>
          <a:xfrm flipH="1">
            <a:off x="1495740" y="1388851"/>
            <a:ext cx="4298100" cy="782100"/>
          </a:xfrm>
          <a:prstGeom prst="curvedConnector3">
            <a:avLst>
              <a:gd fmla="val 105319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1" name="Google Shape;81;p3"/>
          <p:cNvCxnSpPr>
            <a:stCxn id="76" idx="3"/>
            <a:endCxn id="78" idx="3"/>
          </p:cNvCxnSpPr>
          <p:nvPr/>
        </p:nvCxnSpPr>
        <p:spPr>
          <a:xfrm flipH="1">
            <a:off x="7682825" y="2336525"/>
            <a:ext cx="137100" cy="1200000"/>
          </a:xfrm>
          <a:prstGeom prst="curvedConnector3">
            <a:avLst>
              <a:gd fmla="val -173687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" name="Google Shape;82;p3"/>
          <p:cNvCxnSpPr>
            <a:stCxn id="78" idx="1"/>
            <a:endCxn id="77" idx="3"/>
          </p:cNvCxnSpPr>
          <p:nvPr/>
        </p:nvCxnSpPr>
        <p:spPr>
          <a:xfrm flipH="1">
            <a:off x="4137179" y="3536631"/>
            <a:ext cx="1072500" cy="1230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500550" y="1190297"/>
            <a:ext cx="8520600" cy="13001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4000"/>
              <a:t>Введение в BI</a:t>
            </a:r>
            <a:endParaRPr sz="4000"/>
          </a:p>
        </p:txBody>
      </p:sp>
      <p:sp>
        <p:nvSpPr>
          <p:cNvPr id="89" name="Google Shape;89;p4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Тема вебинара</a:t>
            </a:r>
            <a:endParaRPr/>
          </a:p>
        </p:txBody>
      </p:sp>
      <p:sp>
        <p:nvSpPr>
          <p:cNvPr id="90" name="Google Shape;90;p4"/>
          <p:cNvSpPr txBox="1"/>
          <p:nvPr>
            <p:ph idx="2" type="subTitle"/>
          </p:nvPr>
        </p:nvSpPr>
        <p:spPr>
          <a:xfrm>
            <a:off x="2477550" y="34144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Гамаева Александра</a:t>
            </a:r>
            <a:endParaRPr/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13821" l="0" r="9909" t="4685"/>
          <a:stretch/>
        </p:blipFill>
        <p:spPr>
          <a:xfrm>
            <a:off x="1073775" y="3004774"/>
            <a:ext cx="1033800" cy="140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-US" sz="3200"/>
              <a:t>Правила вебинара</a:t>
            </a:r>
            <a:endParaRPr b="1" sz="3200"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87" y="3339895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87" y="1560124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188" y="2450020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/>
          <p:nvPr/>
        </p:nvSpPr>
        <p:spPr>
          <a:xfrm>
            <a:off x="1649062" y="1530761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1649062" y="2400827"/>
            <a:ext cx="3231000" cy="877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 после поднятой руки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1649062" y="3363673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592" y="3832408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6829362" y="3713347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Маршрут вебинара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741014" y="1215184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741614" y="1804686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Зачем нужна визуализации данных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741614" y="2381701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Что такое Business Intelligence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741014" y="2958723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анализа и визуализации бывают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741039" y="3535747"/>
            <a:ext cx="5661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" name="Google Shape;125;p6"/>
          <p:cNvCxnSpPr>
            <a:stCxn id="120" idx="1"/>
            <a:endCxn id="121" idx="1"/>
          </p:cNvCxnSpPr>
          <p:nvPr/>
        </p:nvCxnSpPr>
        <p:spPr>
          <a:xfrm>
            <a:off x="1741014" y="1403284"/>
            <a:ext cx="600" cy="589500"/>
          </a:xfrm>
          <a:prstGeom prst="curvedConnector3">
            <a:avLst>
              <a:gd fmla="val -38100000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" name="Google Shape;126;p6"/>
          <p:cNvCxnSpPr>
            <a:stCxn id="121" idx="1"/>
            <a:endCxn id="122" idx="1"/>
          </p:cNvCxnSpPr>
          <p:nvPr/>
        </p:nvCxnSpPr>
        <p:spPr>
          <a:xfrm>
            <a:off x="1741614" y="1992786"/>
            <a:ext cx="600" cy="576900"/>
          </a:xfrm>
          <a:prstGeom prst="curvedConnector3">
            <a:avLst>
              <a:gd fmla="val -35983333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6"/>
          <p:cNvCxnSpPr>
            <a:stCxn id="122" idx="1"/>
            <a:endCxn id="123" idx="1"/>
          </p:cNvCxnSpPr>
          <p:nvPr/>
        </p:nvCxnSpPr>
        <p:spPr>
          <a:xfrm flipH="1">
            <a:off x="1741014" y="2569801"/>
            <a:ext cx="600" cy="576900"/>
          </a:xfrm>
          <a:prstGeom prst="curvedConnector3">
            <a:avLst>
              <a:gd fmla="val 38200000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6"/>
          <p:cNvCxnSpPr>
            <a:stCxn id="123" idx="1"/>
            <a:endCxn id="129" idx="1"/>
          </p:cNvCxnSpPr>
          <p:nvPr/>
        </p:nvCxnSpPr>
        <p:spPr>
          <a:xfrm>
            <a:off x="1741014" y="3146823"/>
            <a:ext cx="600" cy="576900"/>
          </a:xfrm>
          <a:prstGeom prst="curvedConnector4">
            <a:avLst>
              <a:gd fmla="val -35985667" name="adj1"/>
              <a:gd fmla="val 83039" name="adj2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Цели вебинара</a:t>
            </a:r>
            <a:endParaRPr/>
          </a:p>
        </p:txBody>
      </p:sp>
      <p:graphicFrame>
        <p:nvGraphicFramePr>
          <p:cNvPr id="135" name="Google Shape;135;p7"/>
          <p:cNvGraphicFramePr/>
          <p:nvPr/>
        </p:nvGraphicFramePr>
        <p:xfrm>
          <a:off x="943356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{785D1301-CB26-468C-9BD2-743732C3E11C}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Обосновать, почему данные важно визуализировать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Понимать, что такое визуальный анализ и зачем он нужен</a:t>
                      </a:r>
                      <a:endParaRPr/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Понимать, что такое Business Intelligence, и зачем это аналитику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вид BI платформы и их применимость в условиях своей задачи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7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После занятия вы сможете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/>
              <a:t>Понятие визуализации</a:t>
            </a:r>
            <a:br>
              <a:rPr lang="en-US" sz="4900"/>
            </a:br>
            <a:r>
              <a:rPr lang="en-US" sz="4900"/>
              <a:t>данных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573575" y="388000"/>
            <a:ext cx="325564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Немного истории</a:t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665406" y="1486739"/>
            <a:ext cx="4289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321944" lvl="0" marL="340360" marR="5080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эпоху Возрождения появление больших объемов  информации из различных наук подстегнуло  потребность в качественном её представлении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75006" y="2159362"/>
            <a:ext cx="43077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321944" lvl="0" marL="340360" marR="5080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 середине 19 века уже были изобретены все  основные типы представления данных: столбчатые  и круговые диаграммы, гистограммы, линейные  графики, графики временных рядов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02893" y="3153412"/>
            <a:ext cx="42519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321944" lvl="0" marL="340360" marR="5080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Тенденция роста пошла на спад в начале XX века,  уступив место сухой математике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400"/>
              <a:buFont typeface="Helvetica Neue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944" lvl="0" marL="340360" marR="294005" rtl="0" algn="l">
              <a:lnSpc>
                <a:spcPct val="113846"/>
              </a:lnSpc>
              <a:spcBef>
                <a:spcPts val="88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Новый виток визуализация получила в третьей  четверти XX века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3225" y="2821162"/>
            <a:ext cx="2983668" cy="1929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5232" y="418438"/>
            <a:ext cx="3041669" cy="220981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5265511" y="2621743"/>
            <a:ext cx="3801110" cy="15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Примеры визуализаций, созданных Уильямом Плейфером в 1786 году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573575" y="388000"/>
            <a:ext cx="609282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Что такое визуализация данных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668975" y="1569438"/>
            <a:ext cx="44055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1310" lvl="0" marL="33655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1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Визуализация данных</a:t>
            </a: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– это представление данных в  виде, который обеспечивает наиболее эффективную  работу человека по их изучению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50"/>
              <a:buFont typeface="Helvetica Neue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310" lvl="0" marL="336550" marR="11430" rtl="0" algn="l">
              <a:lnSpc>
                <a:spcPct val="114999"/>
              </a:lnSpc>
              <a:spcBef>
                <a:spcPts val="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 цели представления данных визуализация делится  на презентационную и исследовательскую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310" lvl="0" marL="336550" marR="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обучении существует целое понятие visual learning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36550" marR="48133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как правильная визуализация позволяет мозгу  лучше обрабатывать и усваивать информацию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425" y="1369312"/>
            <a:ext cx="3123842" cy="3164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573575" y="388000"/>
            <a:ext cx="607377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Зачем вообще визуализировать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573574" y="1338654"/>
            <a:ext cx="3690000" cy="3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321310" lvl="0" marL="336550" marR="210184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Человеческий мозг обрабатывает  визуальную информацию в разы быстрее,  чем текст. В том числе бессознательно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310" lvl="0" marL="336550" marR="687705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Визуализация нужна на всех этапах  обработки данных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5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310" lvl="0" marL="336550" marR="20955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Визуализация позволяет быстро и легко  замечать и интерпретировать связи и  взаимоотношения, которые не привлекли бы  внимания в виде необработанных данных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310" lvl="0" marL="336550" marR="5080" rtl="0" algn="l">
              <a:lnSpc>
                <a:spcPct val="114400"/>
              </a:lnSpc>
              <a:spcBef>
                <a:spcPts val="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Roboto"/>
              <a:buChar char="●"/>
            </a:pPr>
            <a:r>
              <a:rPr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Хорошая визуализация помогает сэкономить  время. Плохая - может привести к неверно  принятым решениям</a:t>
            </a:r>
            <a:endParaRPr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809" y="1476996"/>
            <a:ext cx="3380879" cy="2689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>
                <a:solidFill>
                  <a:srgbClr val="FFFFFF"/>
                </a:solidFill>
              </a:rPr>
              <a:t>Визуальный анализ  данных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573575" y="388000"/>
            <a:ext cx="524573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Визуальный анализ данных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573575" y="1467854"/>
            <a:ext cx="43911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Визуальный анализ данных</a:t>
            </a:r>
            <a:r>
              <a:rPr i="0" lang="en-US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– это процесс, в  котором исследование данных происходит с помощью  наглядного отображения информации</a:t>
            </a:r>
            <a:endParaRPr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310515" rtl="0" algn="l">
              <a:lnSpc>
                <a:spcPct val="10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этом процессе всегда есть человек – аналитик-  исследователь (или получатель конечных  результатов анализа)</a:t>
            </a:r>
            <a:endParaRPr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10795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Визуальный анализ данных особенно полезен, когда о самих данных </a:t>
            </a:r>
            <a:r>
              <a:rPr b="1"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мало  что известно </a:t>
            </a: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 цели исследования до конца не понятны</a:t>
            </a:r>
            <a:endParaRPr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85725" rtl="0" algn="l">
              <a:lnSpc>
                <a:spcPct val="105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000" y="1467860"/>
            <a:ext cx="3657149" cy="244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type="title"/>
          </p:nvPr>
        </p:nvSpPr>
        <p:spPr>
          <a:xfrm>
            <a:off x="573575" y="388000"/>
            <a:ext cx="5979160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Структура визуального анализа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73575" y="1465972"/>
            <a:ext cx="5402580" cy="2969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Гипотезы можно проверять и </a:t>
            </a:r>
            <a:r>
              <a:rPr b="1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автоматически </a:t>
            </a: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(методами статистического  анализа), однако прямое вовлечение исследователя в визуальный анализ  имеет два важных преимущества: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69900" marR="2222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можно легко работать </a:t>
            </a:r>
            <a:r>
              <a:rPr b="1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 неподготовленными данными </a:t>
            </a: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 оценивать  надобность в их очистке или трансформации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69900" marR="122554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визуальный анализ интуитивен и не требует применения сложных  математических или статистических алгоритмов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414141"/>
              </a:buClr>
              <a:buSzPts val="1550"/>
              <a:buFont typeface="Helvetica Neue"/>
              <a:buNone/>
            </a:pPr>
            <a:r>
              <a:t/>
            </a:r>
            <a:endParaRPr b="0" i="0" sz="15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Визуальный анализ данных обычно выполняется в три этапа: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b="0" i="0" sz="15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699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поверхностный анализ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6990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погружение и фильтрация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0675" lvl="0" marL="46990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Helvetica Neue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детализация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142" y="1426475"/>
            <a:ext cx="2207306" cy="330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573575" y="388000"/>
            <a:ext cx="716597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Процесс визуального анализа данных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573575" y="1399359"/>
            <a:ext cx="55416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Roboto"/>
                <a:ea typeface="Roboto"/>
                <a:cs typeface="Roboto"/>
                <a:sym typeface="Roboto"/>
              </a:rPr>
              <a:t>Визуальный анализ должен строиться на принципе ясности коммуникации:  </a:t>
            </a: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сообщение должно не только быть точно передано отправителем, но и  правильно понято получателем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Типичные операции визуального анализа включают в себя: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4310" lvl="0" marL="20637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Char char="—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фильтрацию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4310" lvl="0" marL="206375" marR="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Char char="—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сортировку и ранжирование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4310" lvl="0" marL="20637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Char char="—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группировку данных по исходным или вновь созданным полям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825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 счёт того, что аналитик напрямую работает с данными и может менять  способы визуализации – он может получить </a:t>
            </a:r>
            <a:r>
              <a:rPr b="1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дополнительную информацию</a:t>
            </a: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 которая поможет ему более чётко сформулировать гипотезы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4676" y="1426474"/>
            <a:ext cx="2188774" cy="328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Основные тезисы</a:t>
            </a:r>
            <a:endParaRPr/>
          </a:p>
        </p:txBody>
      </p:sp>
      <p:graphicFrame>
        <p:nvGraphicFramePr>
          <p:cNvPr id="198" name="Google Shape;198;p16"/>
          <p:cNvGraphicFramePr/>
          <p:nvPr/>
        </p:nvGraphicFramePr>
        <p:xfrm>
          <a:off x="952500" y="1544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{785D1301-CB26-468C-9BD2-743732C3E11C}</a:tableStyleId>
              </a:tblPr>
              <a:tblGrid>
                <a:gridCol w="489425"/>
                <a:gridCol w="6749575"/>
              </a:tblGrid>
              <a:tr h="54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129539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Визуализация данных – это представление данных в виде, который обеспечивает  наиболее эффективную работу человека по их изучению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925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205740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Человеческий мозг обрабатывает визуальную информацию в разы быстрее, чем  текст. В том числе предсознательно и бессознательно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0475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81635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Визуализация позволяет замечать интересные моменты в данных, на которые  мы могли не обратить внимания без визуализации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985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734060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Визуализация в науке и бизнесе должна помогать получать качественные  решения при минимальных временных затратах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0475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16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Подведем итоги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651425" y="396403"/>
            <a:ext cx="77061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/>
              <a:t>Вопросы?</a:t>
            </a:r>
            <a:br>
              <a:rPr lang="en-US"/>
            </a:br>
            <a:endParaRPr/>
          </a:p>
        </p:txBody>
      </p:sp>
      <p:pic>
        <p:nvPicPr>
          <p:cNvPr id="205" name="Google Shape;2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73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499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13864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44393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>
                <a:solidFill>
                  <a:srgbClr val="FFFFFF"/>
                </a:solidFill>
              </a:rPr>
              <a:t>Business Intelligence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/>
          <p:nvPr>
            <p:ph type="title"/>
          </p:nvPr>
        </p:nvSpPr>
        <p:spPr>
          <a:xfrm>
            <a:off x="573575" y="388000"/>
            <a:ext cx="574865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Что такое Business Intelligence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573575" y="1500517"/>
            <a:ext cx="36069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Термину BI </a:t>
            </a:r>
            <a:r>
              <a:rPr i="0" lang="en-US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Roboto"/>
                <a:ea typeface="Roboto"/>
                <a:cs typeface="Roboto"/>
                <a:sym typeface="Roboto"/>
              </a:rPr>
              <a:t>больше 60 лет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26035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 – это </a:t>
            </a:r>
            <a:r>
              <a:rPr i="0" lang="en-US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Roboto"/>
                <a:ea typeface="Roboto"/>
                <a:cs typeface="Roboto"/>
                <a:sym typeface="Roboto"/>
              </a:rPr>
              <a:t>структурирование информации</a:t>
            </a:r>
            <a:r>
              <a:rPr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превращение сырых  данных в форму, с которой может  работать бизнес-аналитик</a:t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 – это ещё и набор инструментов,  которым этот бизнес-аналитик будет  пользоваться</a:t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3168" y="1452649"/>
            <a:ext cx="3900837" cy="2600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500550" y="330724"/>
            <a:ext cx="8520600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Методы и инструменты BI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73575" y="1493404"/>
            <a:ext cx="4440555" cy="308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254634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целом, любой инструмент, позволяющий сделать из  таблицы диаграмму – это средство BI-анализа.  Можно выделить такие группы: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433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Офисные пакеты (MS Excel)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4330" lvl="0" marL="469900" marR="7366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Визуализация с помощью языков программирования  (matplotlib, seaborn в Python)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4330" lvl="0" marL="469900" marR="125729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Визуализация с помощью BI решений (Tableau, Power  BI, Qlik, Yandex.DataLens, Google Analytics etc.)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60325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Встроенные отчеты в различных программах и платформах,  как правило, относятся к группе 2 или 3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Приятный бонус третьей группы – это максимально  нативная возможность вовлечь своего бизнес-пользователя  в роль исследователя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7328" y="3946620"/>
            <a:ext cx="1573722" cy="50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6392" y="2890539"/>
            <a:ext cx="970823" cy="1068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0"/>
          <p:cNvGrpSpPr/>
          <p:nvPr/>
        </p:nvGrpSpPr>
        <p:grpSpPr>
          <a:xfrm>
            <a:off x="5910475" y="1321499"/>
            <a:ext cx="2350099" cy="2146645"/>
            <a:chOff x="5910475" y="1321499"/>
            <a:chExt cx="2350099" cy="2146645"/>
          </a:xfrm>
        </p:grpSpPr>
        <p:pic>
          <p:nvPicPr>
            <p:cNvPr id="230" name="Google Shape;23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94896" y="2447469"/>
              <a:ext cx="1268341" cy="1020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80775" y="1678300"/>
              <a:ext cx="979799" cy="97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10475" y="1321499"/>
              <a:ext cx="1005474" cy="934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573575" y="388001"/>
            <a:ext cx="3538854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Почему не в Excel?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206199" y="1247777"/>
            <a:ext cx="4990519" cy="3472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60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Подключение к десяткам разных источников  данных, в том числе к базам данных, Google  Таблицам, Excel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2730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Удобное соединение нескольких таблиц в один  источник данных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Интуитивно понятный интерфейс и построение  визуализаций через drag-and-drop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Лёгкий в исполнении дизайн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47879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Возможность добавить интерактив и даже  анимации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100330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Подробная базовая справка и очень  отзывчивое </a:t>
            </a:r>
            <a:r>
              <a:rPr b="0" i="0" lang="en-US" sz="1400" u="sng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community</a:t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65" y="1151675"/>
            <a:ext cx="548419" cy="5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670" y="1793717"/>
            <a:ext cx="548419" cy="548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1"/>
          <p:cNvGrpSpPr/>
          <p:nvPr/>
        </p:nvGrpSpPr>
        <p:grpSpPr>
          <a:xfrm>
            <a:off x="500550" y="3719812"/>
            <a:ext cx="548674" cy="1127763"/>
            <a:chOff x="500550" y="3719812"/>
            <a:chExt cx="548674" cy="1127763"/>
          </a:xfrm>
        </p:grpSpPr>
        <p:pic>
          <p:nvPicPr>
            <p:cNvPr id="242" name="Google Shape;24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0558" y="4298903"/>
              <a:ext cx="548666" cy="548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0550" y="3719812"/>
              <a:ext cx="548666" cy="5486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4" name="Google Shape;24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671" y="2435738"/>
            <a:ext cx="548419" cy="548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0550" y="3077639"/>
            <a:ext cx="548666" cy="548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55890" y="1507037"/>
            <a:ext cx="1989290" cy="181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7801" y="915451"/>
            <a:ext cx="1274983" cy="1026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34731" y="2912157"/>
            <a:ext cx="3076703" cy="1538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type="title"/>
          </p:nvPr>
        </p:nvSpPr>
        <p:spPr>
          <a:xfrm>
            <a:off x="500550" y="330724"/>
            <a:ext cx="8520600" cy="97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Какие инструменты анализа и  визуализации бывают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73575" y="1502765"/>
            <a:ext cx="8006715" cy="155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 решений – множество. В России наиболее на слуху: Tableau, Power BI, Apache Superset, Qlik View / Sense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b="0" i="0" sz="18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186690" rtl="0" algn="l">
              <a:lnSpc>
                <a:spcPct val="115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Основная задача любого BI-инструмента в том, чтобы облегчать жизнь человеку, который с  ним работает, и давать возможность максимально погрузиться в данные. Если говорить в контексте узкой задачи — быстром базовом анализе и визуализации данных,  то вот что говорит рейтинг SelectHub: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499" y="3285825"/>
            <a:ext cx="7964236" cy="151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573575" y="388000"/>
            <a:ext cx="327596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Виды BI решений</a:t>
            </a:r>
            <a:endParaRPr/>
          </a:p>
        </p:txBody>
      </p:sp>
      <p:pic>
        <p:nvPicPr>
          <p:cNvPr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00" y="1254961"/>
            <a:ext cx="8180074" cy="34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d984d8426_0_96"/>
          <p:cNvSpPr txBox="1"/>
          <p:nvPr>
            <p:ph type="title"/>
          </p:nvPr>
        </p:nvSpPr>
        <p:spPr>
          <a:xfrm>
            <a:off x="573575" y="388000"/>
            <a:ext cx="6630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Импортозамещение</a:t>
            </a:r>
            <a:r>
              <a:rPr lang="en-US">
                <a:solidFill>
                  <a:schemeClr val="lt1"/>
                </a:solidFill>
              </a:rPr>
              <a:t> BI решений</a:t>
            </a:r>
            <a:endParaRPr/>
          </a:p>
        </p:txBody>
      </p:sp>
      <p:pic>
        <p:nvPicPr>
          <p:cNvPr id="267" name="Google Shape;267;g38d984d8426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650" y="1124700"/>
            <a:ext cx="3130701" cy="3652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8d984d8426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225" y="1124675"/>
            <a:ext cx="3130701" cy="365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d984d8426_0_50"/>
          <p:cNvSpPr txBox="1"/>
          <p:nvPr>
            <p:ph type="title"/>
          </p:nvPr>
        </p:nvSpPr>
        <p:spPr>
          <a:xfrm>
            <a:off x="573575" y="388000"/>
            <a:ext cx="5751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BI и импортозамещение</a:t>
            </a:r>
            <a:endParaRPr/>
          </a:p>
        </p:txBody>
      </p:sp>
      <p:graphicFrame>
        <p:nvGraphicFramePr>
          <p:cNvPr id="274" name="Google Shape;274;g38d984d8426_0_50"/>
          <p:cNvGraphicFramePr/>
          <p:nvPr/>
        </p:nvGraphicFramePr>
        <p:xfrm>
          <a:off x="591988" y="12502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{191E7DD3-CFD0-491F-9652-1399C71A4DF6}</a:tableStyleId>
              </a:tblPr>
              <a:tblGrid>
                <a:gridCol w="2761300"/>
                <a:gridCol w="2761300"/>
                <a:gridCol w="2761300"/>
              </a:tblGrid>
              <a:tr h="12074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Tableau</a:t>
                      </a:r>
                      <a:br>
                        <a:rPr b="1" lang="en-US" sz="13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3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работает из-под VPN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341630" rtl="0" algn="l">
                        <a:lnSpc>
                          <a:spcPct val="113636"/>
                        </a:lnSpc>
                        <a:spcBef>
                          <a:spcPts val="334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Обходных путей для официальной  покупки лицензий - нет</a:t>
                      </a:r>
                      <a:endParaRPr sz="1400" u="none" cap="none" strike="noStrike"/>
                    </a:p>
                  </a:txBody>
                  <a:tcPr marT="7112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PowerBI</a:t>
                      </a: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182245" rtl="0" algn="l">
                        <a:lnSpc>
                          <a:spcPct val="113636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Можно установить бесплатную  версию. Можно оплачивать ранее  купленные лицензии, обходные пути  для организаций есть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302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QlikView/Sense</a:t>
                      </a: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134620" rtl="0" algn="l">
                        <a:lnSpc>
                          <a:spcPct val="113636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Вечные лицензии функционируют.  Обходные пути для организаций есть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302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18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FineBI</a:t>
                      </a: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520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Китайский продукт, прилично  скопированный с Tableau. Широкое развитие на РФ рынке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Metabase, Apache Superset, Redash,  Google Data Studio</a:t>
                      </a: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5854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Функционал простоват, но для  решения базовых задач  визуализации - подходят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 DataLense</a:t>
                      </a: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b="1"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CC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CC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3124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Облако, нет ETL, но прост в  обращении и похож на Google Data  Studio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1825">
                <a:tc>
                  <a:txBody>
                    <a:bodyPr/>
                    <a:lstStyle/>
                    <a:p>
                      <a:pPr indent="0" lvl="0" marL="85725" marR="520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PIX BI</a:t>
                      </a:r>
                      <a:endParaRPr/>
                    </a:p>
                    <a:p>
                      <a:pPr indent="0" lvl="0" marL="85725" marR="520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520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Основной продукт компании – PIX RPA, BI продается как доп фича к нему. Как отдельный продукт проигрывает конкурентам по многим параметрам.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5854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Alpha BI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5854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5854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Проигрывает по возможностям визуализации, но имеет много полезных доп фич.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3124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Delta BI</a:t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3124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85725" marR="3124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Развитый ETL. Прост во внедрении.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800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d984d8426_0_55"/>
          <p:cNvSpPr txBox="1"/>
          <p:nvPr>
            <p:ph type="title"/>
          </p:nvPr>
        </p:nvSpPr>
        <p:spPr>
          <a:xfrm>
            <a:off x="573575" y="388000"/>
            <a:ext cx="85086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Сравнительный анализ доступных инструментов</a:t>
            </a:r>
            <a:endParaRPr/>
          </a:p>
        </p:txBody>
      </p:sp>
      <p:graphicFrame>
        <p:nvGraphicFramePr>
          <p:cNvPr id="280" name="Google Shape;280;g38d984d8426_0_55"/>
          <p:cNvGraphicFramePr/>
          <p:nvPr/>
        </p:nvGraphicFramePr>
        <p:xfrm>
          <a:off x="873985" y="1688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{785D1301-CB26-468C-9BD2-743732C3E11C}</a:tableStyleId>
              </a:tblPr>
              <a:tblGrid>
                <a:gridCol w="4828150"/>
                <a:gridCol w="641975"/>
                <a:gridCol w="641975"/>
                <a:gridCol w="641975"/>
                <a:gridCol w="641975"/>
              </a:tblGrid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 BI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PIX BI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Alpha BI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Delta BI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ETL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Визуализация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  <a:tr h="42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Интерактивные возможности (активные фильтры, прогнозы, стат анализ)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Доп возможности(auth,ci/cd,экспорт файлов,карты)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  <a:tr h="2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Простота внедрения(обучения, полнота ПО из коробки,self-service)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" marB="0" marR="6350" marL="6350" anchor="b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type="title"/>
          </p:nvPr>
        </p:nvSpPr>
        <p:spPr>
          <a:xfrm>
            <a:off x="573575" y="388000"/>
            <a:ext cx="534606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Как понять, на чем учиться?</a:t>
            </a:r>
            <a:endParaRPr/>
          </a:p>
        </p:txBody>
      </p:sp>
      <p:graphicFrame>
        <p:nvGraphicFramePr>
          <p:cNvPr id="286" name="Google Shape;286;p26"/>
          <p:cNvGraphicFramePr/>
          <p:nvPr/>
        </p:nvGraphicFramePr>
        <p:xfrm>
          <a:off x="598887" y="12232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{D58F2956-9FDC-4B36-8135-C454E828B65E}</a:tableStyleId>
              </a:tblPr>
              <a:tblGrid>
                <a:gridCol w="2083425"/>
                <a:gridCol w="5992500"/>
              </a:tblGrid>
              <a:tr h="354725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Критерий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Содержание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Порог вхождения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1822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Уровень подготовки может быть различным – от практически полного отсутствия технической  подготовки до владения специальными языками программирования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Доступность для работы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24193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Решения могут быть бесплатными и платными, доступными для работы с локальной машины  или cloud-based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Источники данных и загрузка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Многообразие подключений к различным СУБД и возможность загрузки собственных файлов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250">
                <a:tc>
                  <a:txBody>
                    <a:bodyPr/>
                    <a:lstStyle/>
                    <a:p>
                      <a:pPr indent="0" lvl="0" marL="66675" marR="5518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Подготовка данных, ETL  (Extract, Transform, Load)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97408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Возможности подготовки данных перед началом работы – очистка, фильтрация и  трансформация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975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Визуализации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Ассортимент доступных визуализаций и возможность создания собственных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975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Корпоративное использование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Вероятность найти компанию, в которой именно это BI решение уже используется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1600" marB="0" marR="0" marL="0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3796" y="872950"/>
            <a:ext cx="2609523" cy="39558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>
            <p:ph type="title"/>
          </p:nvPr>
        </p:nvSpPr>
        <p:spPr>
          <a:xfrm>
            <a:off x="573575" y="388000"/>
            <a:ext cx="5536565" cy="497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100"/>
              <a:buNone/>
            </a:pPr>
            <a:r>
              <a:rPr lang="en-US">
                <a:solidFill>
                  <a:schemeClr val="lt1"/>
                </a:solidFill>
              </a:rPr>
              <a:t>Примеры Tableau дашбордов</a:t>
            </a:r>
            <a:endParaRPr/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137" y="983981"/>
            <a:ext cx="2321955" cy="178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137" y="2846306"/>
            <a:ext cx="1615008" cy="19799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7"/>
          <p:cNvGrpSpPr/>
          <p:nvPr/>
        </p:nvGrpSpPr>
        <p:grpSpPr>
          <a:xfrm>
            <a:off x="2358725" y="915250"/>
            <a:ext cx="3749399" cy="3927914"/>
            <a:chOff x="2358725" y="915250"/>
            <a:chExt cx="3749399" cy="3927914"/>
          </a:xfrm>
        </p:grpSpPr>
        <p:pic>
          <p:nvPicPr>
            <p:cNvPr id="296" name="Google Shape;296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58725" y="2840875"/>
              <a:ext cx="2609523" cy="1979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92074" y="915250"/>
              <a:ext cx="2916043" cy="1884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49237" y="2846300"/>
              <a:ext cx="1058887" cy="19968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6" cy="482091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2936000" y="143519"/>
            <a:ext cx="405765" cy="13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sng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источник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729148" cy="483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9"/>
          <p:cNvGrpSpPr/>
          <p:nvPr/>
        </p:nvGrpSpPr>
        <p:grpSpPr>
          <a:xfrm>
            <a:off x="7045975" y="152400"/>
            <a:ext cx="1870886" cy="4585186"/>
            <a:chOff x="7045975" y="152400"/>
            <a:chExt cx="1870886" cy="4585186"/>
          </a:xfrm>
        </p:grpSpPr>
        <p:pic>
          <p:nvPicPr>
            <p:cNvPr id="311" name="Google Shape;31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45975" y="152400"/>
              <a:ext cx="1411841" cy="2639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505012" y="2075100"/>
              <a:ext cx="1411849" cy="26624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29"/>
          <p:cNvSpPr txBox="1"/>
          <p:nvPr/>
        </p:nvSpPr>
        <p:spPr>
          <a:xfrm>
            <a:off x="2175824" y="143519"/>
            <a:ext cx="405765" cy="13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sng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источник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Основные тезисы</a:t>
            </a:r>
            <a:endParaRPr/>
          </a:p>
        </p:txBody>
      </p:sp>
      <p:graphicFrame>
        <p:nvGraphicFramePr>
          <p:cNvPr id="319" name="Google Shape;319;p30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{785D1301-CB26-468C-9BD2-743732C3E11C}</a:tableStyleId>
              </a:tblPr>
              <a:tblGrid>
                <a:gridCol w="489425"/>
                <a:gridCol w="6749575"/>
              </a:tblGrid>
              <a:tr h="58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234950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 – это превращение транзакционной бизнес-информации в человекочитаемый  вид, а также набор вспомогательных инструментов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0475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640080" rtl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Любой BI тул призван максимально автоматизировать работу по созданию  визуализаций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0475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Выбор BI инструмента зависит от сложности задачи и наличия у аналитика возможности работать с конкретным инструментом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30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Подведем итоги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>
            <p:ph type="title"/>
          </p:nvPr>
        </p:nvSpPr>
        <p:spPr>
          <a:xfrm>
            <a:off x="651425" y="396403"/>
            <a:ext cx="77061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/>
              <a:t>Вопросы?</a:t>
            </a:r>
            <a:br>
              <a:rPr lang="en-US"/>
            </a:br>
            <a:endParaRPr/>
          </a:p>
        </p:txBody>
      </p:sp>
      <p:pic>
        <p:nvPicPr>
          <p:cNvPr id="326" name="Google Shape;3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73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499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13864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44393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/>
              <a:t>Рефлексия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Цели вебинара</a:t>
            </a:r>
            <a:endParaRPr/>
          </a:p>
        </p:txBody>
      </p:sp>
      <p:graphicFrame>
        <p:nvGraphicFramePr>
          <p:cNvPr id="340" name="Google Shape;340;p34"/>
          <p:cNvGraphicFramePr/>
          <p:nvPr/>
        </p:nvGraphicFramePr>
        <p:xfrm>
          <a:off x="943356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{785D1301-CB26-468C-9BD2-743732C3E11C}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Обосновать, почему данные важно визуализировать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Понимать, что такое визуальный анализ и зачем он нужен</a:t>
                      </a:r>
                      <a:endParaRPr/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Понимать, что такое Business Intelligence, и зачем это аналитику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вид BI платформы и их применимость в условиях своей задачи</a:t>
                      </a:r>
                      <a:endParaRPr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700" marB="0" marR="0" marL="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34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После занятия вы сможете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Рефлексия</a:t>
            </a:r>
            <a:endParaRPr/>
          </a:p>
        </p:txBody>
      </p:sp>
      <p:pic>
        <p:nvPicPr>
          <p:cNvPr id="347" name="Google Shape;3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864" y="1986125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5"/>
          <p:cNvSpPr txBox="1"/>
          <p:nvPr/>
        </p:nvSpPr>
        <p:spPr>
          <a:xfrm>
            <a:off x="2407990" y="2153775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Что интересного и важного узнали на вебинаре?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2407990" y="33630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0" name="Google Shape;35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9700" y="3296427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/>
              <a:t>Заполните, пожалуйста,</a:t>
            </a:r>
            <a:endParaRPr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3800"/>
              <a:t>опрос о занятии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Aleksandra Merzlaya</dc:creator>
</cp:coreProperties>
</file>